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946" r:id="rId2"/>
    <p:sldId id="941" r:id="rId3"/>
    <p:sldId id="919" r:id="rId4"/>
    <p:sldId id="949" r:id="rId5"/>
    <p:sldId id="950" r:id="rId6"/>
    <p:sldId id="951" r:id="rId7"/>
    <p:sldId id="973" r:id="rId8"/>
    <p:sldId id="952" r:id="rId9"/>
    <p:sldId id="953" r:id="rId10"/>
    <p:sldId id="954" r:id="rId11"/>
    <p:sldId id="955" r:id="rId12"/>
    <p:sldId id="956" r:id="rId13"/>
    <p:sldId id="957" r:id="rId14"/>
    <p:sldId id="958" r:id="rId15"/>
    <p:sldId id="959" r:id="rId16"/>
    <p:sldId id="960" r:id="rId17"/>
    <p:sldId id="978" r:id="rId18"/>
    <p:sldId id="961" r:id="rId19"/>
    <p:sldId id="962" r:id="rId20"/>
    <p:sldId id="963" r:id="rId21"/>
    <p:sldId id="964" r:id="rId22"/>
    <p:sldId id="965" r:id="rId23"/>
    <p:sldId id="924" r:id="rId24"/>
    <p:sldId id="966" r:id="rId25"/>
    <p:sldId id="967" r:id="rId26"/>
    <p:sldId id="928" r:id="rId27"/>
    <p:sldId id="975" r:id="rId28"/>
    <p:sldId id="974" r:id="rId29"/>
    <p:sldId id="968" r:id="rId30"/>
    <p:sldId id="969" r:id="rId31"/>
    <p:sldId id="970" r:id="rId32"/>
    <p:sldId id="971" r:id="rId33"/>
    <p:sldId id="972" r:id="rId34"/>
    <p:sldId id="937" r:id="rId35"/>
    <p:sldId id="977" r:id="rId36"/>
    <p:sldId id="979" r:id="rId37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73854F-583B-4A12-9A0F-4B5C09F67267}" v="11" dt="2026-04-13T03:58:07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1" autoAdjust="0"/>
    <p:restoredTop sz="57045" autoAdjust="0"/>
  </p:normalViewPr>
  <p:slideViewPr>
    <p:cSldViewPr snapToGrid="0">
      <p:cViewPr varScale="1">
        <p:scale>
          <a:sx n="82" d="100"/>
          <a:sy n="82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5C4685-8D17-4B41-8B60-71453CF7370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BBCB56-3FD0-4BB6-B580-AA9A88C5023A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US" dirty="0"/>
            <a:t>Start</a:t>
          </a:r>
        </a:p>
      </dgm:t>
    </dgm:pt>
    <dgm:pt modelId="{7ADC00C3-64AD-4350-A484-42CA8ECE564A}" type="parTrans" cxnId="{CDC45BAA-04AC-4812-8132-8D9618C0A63F}">
      <dgm:prSet/>
      <dgm:spPr/>
      <dgm:t>
        <a:bodyPr/>
        <a:lstStyle/>
        <a:p>
          <a:endParaRPr lang="en-US"/>
        </a:p>
      </dgm:t>
    </dgm:pt>
    <dgm:pt modelId="{DA7DFFB1-D1E6-4C73-A6C2-286A87DECB98}" type="sibTrans" cxnId="{CDC45BAA-04AC-4812-8132-8D9618C0A63F}">
      <dgm:prSet/>
      <dgm:spPr/>
      <dgm:t>
        <a:bodyPr/>
        <a:lstStyle/>
        <a:p>
          <a:endParaRPr lang="en-US"/>
        </a:p>
      </dgm:t>
    </dgm:pt>
    <dgm:pt modelId="{DD01EAAF-7B4E-4CD9-B6B4-533192786442}">
      <dgm:prSet/>
      <dgm:spPr/>
      <dgm:t>
        <a:bodyPr/>
        <a:lstStyle/>
        <a:p>
          <a:pPr>
            <a:buNone/>
          </a:pPr>
          <a:r>
            <a:rPr lang="en-US" dirty="0"/>
            <a:t>Input Data (LMS + Academic)</a:t>
          </a:r>
        </a:p>
      </dgm:t>
    </dgm:pt>
    <dgm:pt modelId="{09D4634C-5DC3-40D8-963D-E51492A252EA}" type="parTrans" cxnId="{85C3B6C4-9823-4CEB-BE1C-B5F8EAABF6F5}">
      <dgm:prSet/>
      <dgm:spPr/>
      <dgm:t>
        <a:bodyPr/>
        <a:lstStyle/>
        <a:p>
          <a:endParaRPr lang="en-US"/>
        </a:p>
      </dgm:t>
    </dgm:pt>
    <dgm:pt modelId="{4C2F3BDF-FCD6-4946-ABFC-ADCDE7F457BE}" type="sibTrans" cxnId="{85C3B6C4-9823-4CEB-BE1C-B5F8EAABF6F5}">
      <dgm:prSet/>
      <dgm:spPr/>
      <dgm:t>
        <a:bodyPr/>
        <a:lstStyle/>
        <a:p>
          <a:endParaRPr lang="en-US"/>
        </a:p>
      </dgm:t>
    </dgm:pt>
    <dgm:pt modelId="{661881F4-8AF9-40AA-8522-F9EED75A9A85}">
      <dgm:prSet/>
      <dgm:spPr/>
      <dgm:t>
        <a:bodyPr/>
        <a:lstStyle/>
        <a:p>
          <a:pPr>
            <a:buNone/>
          </a:pPr>
          <a:r>
            <a:rPr lang="en-US" dirty="0"/>
            <a:t>Data Preprocessing</a:t>
          </a:r>
        </a:p>
      </dgm:t>
    </dgm:pt>
    <dgm:pt modelId="{09ED6700-03AA-4641-96B3-054606437709}" type="parTrans" cxnId="{17563692-9187-4354-9E19-EC972FAEA42F}">
      <dgm:prSet/>
      <dgm:spPr/>
      <dgm:t>
        <a:bodyPr/>
        <a:lstStyle/>
        <a:p>
          <a:endParaRPr lang="en-US"/>
        </a:p>
      </dgm:t>
    </dgm:pt>
    <dgm:pt modelId="{2BE7F7F4-2445-453A-BF68-BADF3504F600}" type="sibTrans" cxnId="{17563692-9187-4354-9E19-EC972FAEA42F}">
      <dgm:prSet/>
      <dgm:spPr/>
      <dgm:t>
        <a:bodyPr/>
        <a:lstStyle/>
        <a:p>
          <a:endParaRPr lang="en-US"/>
        </a:p>
      </dgm:t>
    </dgm:pt>
    <dgm:pt modelId="{C262AAA7-2C2B-4DB2-A23B-261B6585F612}">
      <dgm:prSet/>
      <dgm:spPr/>
      <dgm:t>
        <a:bodyPr/>
        <a:lstStyle/>
        <a:p>
          <a:pPr>
            <a:buNone/>
          </a:pPr>
          <a:r>
            <a:rPr lang="en-US" dirty="0"/>
            <a:t>Feature Engineering</a:t>
          </a:r>
        </a:p>
      </dgm:t>
    </dgm:pt>
    <dgm:pt modelId="{32AB4290-DFAC-47D0-A0FC-710F8536D6DE}" type="parTrans" cxnId="{7B53ED38-1A32-4324-B5EC-A1C1109913E3}">
      <dgm:prSet/>
      <dgm:spPr/>
      <dgm:t>
        <a:bodyPr/>
        <a:lstStyle/>
        <a:p>
          <a:endParaRPr lang="en-US"/>
        </a:p>
      </dgm:t>
    </dgm:pt>
    <dgm:pt modelId="{16D3BBE8-136A-4817-8156-A001D6CD9949}" type="sibTrans" cxnId="{7B53ED38-1A32-4324-B5EC-A1C1109913E3}">
      <dgm:prSet/>
      <dgm:spPr/>
      <dgm:t>
        <a:bodyPr/>
        <a:lstStyle/>
        <a:p>
          <a:endParaRPr lang="en-US"/>
        </a:p>
      </dgm:t>
    </dgm:pt>
    <dgm:pt modelId="{67C73556-5C6C-40F2-BF1D-1FF1A52C44D0}">
      <dgm:prSet/>
      <dgm:spPr/>
      <dgm:t>
        <a:bodyPr/>
        <a:lstStyle/>
        <a:p>
          <a:pPr>
            <a:buNone/>
          </a:pPr>
          <a:r>
            <a:rPr lang="en-US" dirty="0"/>
            <a:t>Model (Gradient Boosting)</a:t>
          </a:r>
        </a:p>
      </dgm:t>
    </dgm:pt>
    <dgm:pt modelId="{187A6362-283E-4F38-BB45-E3D9477862B0}" type="parTrans" cxnId="{3613EE35-3F46-41AA-AA2F-BC6B59F49413}">
      <dgm:prSet/>
      <dgm:spPr/>
      <dgm:t>
        <a:bodyPr/>
        <a:lstStyle/>
        <a:p>
          <a:endParaRPr lang="en-US"/>
        </a:p>
      </dgm:t>
    </dgm:pt>
    <dgm:pt modelId="{33CDBE05-1662-4FE4-B616-1585211A8316}" type="sibTrans" cxnId="{3613EE35-3F46-41AA-AA2F-BC6B59F49413}">
      <dgm:prSet/>
      <dgm:spPr/>
      <dgm:t>
        <a:bodyPr/>
        <a:lstStyle/>
        <a:p>
          <a:endParaRPr lang="en-US"/>
        </a:p>
      </dgm:t>
    </dgm:pt>
    <dgm:pt modelId="{C5419276-D365-4498-8FB0-C62277F52E70}">
      <dgm:prSet/>
      <dgm:spPr/>
      <dgm:t>
        <a:bodyPr/>
        <a:lstStyle/>
        <a:p>
          <a:pPr>
            <a:buNone/>
          </a:pPr>
          <a:r>
            <a:rPr lang="en-US" dirty="0"/>
            <a:t>Risk Level (Low / Medium / High)</a:t>
          </a:r>
        </a:p>
      </dgm:t>
    </dgm:pt>
    <dgm:pt modelId="{363AB479-E191-459A-B482-18CC350A6DAF}" type="parTrans" cxnId="{5F6B708D-0047-4E8B-B751-1A17E479F3E6}">
      <dgm:prSet/>
      <dgm:spPr/>
      <dgm:t>
        <a:bodyPr/>
        <a:lstStyle/>
        <a:p>
          <a:endParaRPr lang="en-US"/>
        </a:p>
      </dgm:t>
    </dgm:pt>
    <dgm:pt modelId="{BE8E4B97-C902-42C8-9232-24DB70521155}" type="sibTrans" cxnId="{5F6B708D-0047-4E8B-B751-1A17E479F3E6}">
      <dgm:prSet/>
      <dgm:spPr/>
      <dgm:t>
        <a:bodyPr/>
        <a:lstStyle/>
        <a:p>
          <a:endParaRPr lang="en-US"/>
        </a:p>
      </dgm:t>
    </dgm:pt>
    <dgm:pt modelId="{22690F03-5387-4866-B2C8-8317EA96E686}">
      <dgm:prSet/>
      <dgm:spPr/>
      <dgm:t>
        <a:bodyPr/>
        <a:lstStyle/>
        <a:p>
          <a:pPr>
            <a:buNone/>
          </a:pPr>
          <a:r>
            <a:rPr lang="en-US" dirty="0"/>
            <a:t>Visualization (Dashboard)</a:t>
          </a:r>
        </a:p>
      </dgm:t>
    </dgm:pt>
    <dgm:pt modelId="{4D2050F8-C781-49E7-A81E-D4881F23A442}" type="parTrans" cxnId="{251F0074-1E44-480E-986B-A148FC79AAEE}">
      <dgm:prSet/>
      <dgm:spPr/>
      <dgm:t>
        <a:bodyPr/>
        <a:lstStyle/>
        <a:p>
          <a:endParaRPr lang="en-US"/>
        </a:p>
      </dgm:t>
    </dgm:pt>
    <dgm:pt modelId="{A2EDAAF5-B7A7-4EC4-8893-72F7764562E4}" type="sibTrans" cxnId="{251F0074-1E44-480E-986B-A148FC79AAEE}">
      <dgm:prSet/>
      <dgm:spPr/>
      <dgm:t>
        <a:bodyPr/>
        <a:lstStyle/>
        <a:p>
          <a:endParaRPr lang="en-US"/>
        </a:p>
      </dgm:t>
    </dgm:pt>
    <dgm:pt modelId="{0CC5C82C-A9A3-4F8D-BAE3-92D54F2C8D02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>
            <a:buNone/>
          </a:pPr>
          <a:r>
            <a:rPr lang="en-US" dirty="0"/>
            <a:t>End</a:t>
          </a:r>
        </a:p>
      </dgm:t>
    </dgm:pt>
    <dgm:pt modelId="{9F90F47E-AB4C-46D7-A971-2641C402DB6D}" type="parTrans" cxnId="{19A05C23-EBD8-435B-AB8C-1CF9C95415FF}">
      <dgm:prSet/>
      <dgm:spPr/>
      <dgm:t>
        <a:bodyPr/>
        <a:lstStyle/>
        <a:p>
          <a:endParaRPr lang="en-US"/>
        </a:p>
      </dgm:t>
    </dgm:pt>
    <dgm:pt modelId="{544909DB-F9D1-4197-A1E2-E8ACB241FD39}" type="sibTrans" cxnId="{19A05C23-EBD8-435B-AB8C-1CF9C95415FF}">
      <dgm:prSet/>
      <dgm:spPr/>
      <dgm:t>
        <a:bodyPr/>
        <a:lstStyle/>
        <a:p>
          <a:endParaRPr lang="en-US"/>
        </a:p>
      </dgm:t>
    </dgm:pt>
    <dgm:pt modelId="{C897509E-B298-4A5B-A347-A2DDE7A4A82D}" type="pres">
      <dgm:prSet presAssocID="{665C4685-8D17-4B41-8B60-71453CF73709}" presName="linearFlow" presStyleCnt="0">
        <dgm:presLayoutVars>
          <dgm:resizeHandles val="exact"/>
        </dgm:presLayoutVars>
      </dgm:prSet>
      <dgm:spPr/>
    </dgm:pt>
    <dgm:pt modelId="{42D731A9-EAC8-4763-8AE0-4BAC45FC5298}" type="pres">
      <dgm:prSet presAssocID="{47BBCB56-3FD0-4BB6-B580-AA9A88C5023A}" presName="node" presStyleLbl="node1" presStyleIdx="0" presStyleCnt="8">
        <dgm:presLayoutVars>
          <dgm:bulletEnabled val="1"/>
        </dgm:presLayoutVars>
      </dgm:prSet>
      <dgm:spPr/>
    </dgm:pt>
    <dgm:pt modelId="{DEBEABF5-FBFA-4C7C-86D0-43DB349B4FC4}" type="pres">
      <dgm:prSet presAssocID="{DA7DFFB1-D1E6-4C73-A6C2-286A87DECB98}" presName="sibTrans" presStyleLbl="sibTrans2D1" presStyleIdx="0" presStyleCnt="7"/>
      <dgm:spPr/>
    </dgm:pt>
    <dgm:pt modelId="{C9EF4F9C-C5AB-4435-8EEC-DE66B9077903}" type="pres">
      <dgm:prSet presAssocID="{DA7DFFB1-D1E6-4C73-A6C2-286A87DECB98}" presName="connectorText" presStyleLbl="sibTrans2D1" presStyleIdx="0" presStyleCnt="7"/>
      <dgm:spPr/>
    </dgm:pt>
    <dgm:pt modelId="{A135BA6F-DFD5-444D-AA8B-F1ABEF10D75C}" type="pres">
      <dgm:prSet presAssocID="{DD01EAAF-7B4E-4CD9-B6B4-533192786442}" presName="node" presStyleLbl="node1" presStyleIdx="1" presStyleCnt="8">
        <dgm:presLayoutVars>
          <dgm:bulletEnabled val="1"/>
        </dgm:presLayoutVars>
      </dgm:prSet>
      <dgm:spPr/>
    </dgm:pt>
    <dgm:pt modelId="{2A4C751A-2191-401D-9E33-0A0A1AD09CB1}" type="pres">
      <dgm:prSet presAssocID="{4C2F3BDF-FCD6-4946-ABFC-ADCDE7F457BE}" presName="sibTrans" presStyleLbl="sibTrans2D1" presStyleIdx="1" presStyleCnt="7"/>
      <dgm:spPr/>
    </dgm:pt>
    <dgm:pt modelId="{D446A017-0A8C-4600-B326-B8910A2C7485}" type="pres">
      <dgm:prSet presAssocID="{4C2F3BDF-FCD6-4946-ABFC-ADCDE7F457BE}" presName="connectorText" presStyleLbl="sibTrans2D1" presStyleIdx="1" presStyleCnt="7"/>
      <dgm:spPr/>
    </dgm:pt>
    <dgm:pt modelId="{89622970-55F5-4E8F-9824-D1AB49392014}" type="pres">
      <dgm:prSet presAssocID="{661881F4-8AF9-40AA-8522-F9EED75A9A85}" presName="node" presStyleLbl="node1" presStyleIdx="2" presStyleCnt="8">
        <dgm:presLayoutVars>
          <dgm:bulletEnabled val="1"/>
        </dgm:presLayoutVars>
      </dgm:prSet>
      <dgm:spPr/>
    </dgm:pt>
    <dgm:pt modelId="{0DBC569F-8C50-48DF-88C7-1FA30142D095}" type="pres">
      <dgm:prSet presAssocID="{2BE7F7F4-2445-453A-BF68-BADF3504F600}" presName="sibTrans" presStyleLbl="sibTrans2D1" presStyleIdx="2" presStyleCnt="7"/>
      <dgm:spPr/>
    </dgm:pt>
    <dgm:pt modelId="{BA39F435-AF89-4425-B8E4-8C16062A80AB}" type="pres">
      <dgm:prSet presAssocID="{2BE7F7F4-2445-453A-BF68-BADF3504F600}" presName="connectorText" presStyleLbl="sibTrans2D1" presStyleIdx="2" presStyleCnt="7"/>
      <dgm:spPr/>
    </dgm:pt>
    <dgm:pt modelId="{D03AC2A6-F156-4217-AE9C-64F8FF99E71E}" type="pres">
      <dgm:prSet presAssocID="{C262AAA7-2C2B-4DB2-A23B-261B6585F612}" presName="node" presStyleLbl="node1" presStyleIdx="3" presStyleCnt="8">
        <dgm:presLayoutVars>
          <dgm:bulletEnabled val="1"/>
        </dgm:presLayoutVars>
      </dgm:prSet>
      <dgm:spPr/>
    </dgm:pt>
    <dgm:pt modelId="{1EC00AEC-704C-4132-A46B-DA94F5411D1D}" type="pres">
      <dgm:prSet presAssocID="{16D3BBE8-136A-4817-8156-A001D6CD9949}" presName="sibTrans" presStyleLbl="sibTrans2D1" presStyleIdx="3" presStyleCnt="7"/>
      <dgm:spPr/>
    </dgm:pt>
    <dgm:pt modelId="{EB3730F4-F508-4C8E-AC99-BD04A2AC672D}" type="pres">
      <dgm:prSet presAssocID="{16D3BBE8-136A-4817-8156-A001D6CD9949}" presName="connectorText" presStyleLbl="sibTrans2D1" presStyleIdx="3" presStyleCnt="7"/>
      <dgm:spPr/>
    </dgm:pt>
    <dgm:pt modelId="{A6A5FE6C-91C3-4B6A-B0A1-B451B1676FC7}" type="pres">
      <dgm:prSet presAssocID="{67C73556-5C6C-40F2-BF1D-1FF1A52C44D0}" presName="node" presStyleLbl="node1" presStyleIdx="4" presStyleCnt="8">
        <dgm:presLayoutVars>
          <dgm:bulletEnabled val="1"/>
        </dgm:presLayoutVars>
      </dgm:prSet>
      <dgm:spPr/>
    </dgm:pt>
    <dgm:pt modelId="{291F1B84-6ABF-480C-9633-B45DDEA4552E}" type="pres">
      <dgm:prSet presAssocID="{33CDBE05-1662-4FE4-B616-1585211A8316}" presName="sibTrans" presStyleLbl="sibTrans2D1" presStyleIdx="4" presStyleCnt="7"/>
      <dgm:spPr/>
    </dgm:pt>
    <dgm:pt modelId="{5EF0616C-BF8A-475F-AE86-8BAE808BBFB3}" type="pres">
      <dgm:prSet presAssocID="{33CDBE05-1662-4FE4-B616-1585211A8316}" presName="connectorText" presStyleLbl="sibTrans2D1" presStyleIdx="4" presStyleCnt="7"/>
      <dgm:spPr/>
    </dgm:pt>
    <dgm:pt modelId="{26701E86-8473-461D-96F3-8BA9DF19546E}" type="pres">
      <dgm:prSet presAssocID="{C5419276-D365-4498-8FB0-C62277F52E70}" presName="node" presStyleLbl="node1" presStyleIdx="5" presStyleCnt="8">
        <dgm:presLayoutVars>
          <dgm:bulletEnabled val="1"/>
        </dgm:presLayoutVars>
      </dgm:prSet>
      <dgm:spPr/>
    </dgm:pt>
    <dgm:pt modelId="{0C6E4420-F2D7-4778-846E-D07E4CF885AD}" type="pres">
      <dgm:prSet presAssocID="{BE8E4B97-C902-42C8-9232-24DB70521155}" presName="sibTrans" presStyleLbl="sibTrans2D1" presStyleIdx="5" presStyleCnt="7"/>
      <dgm:spPr/>
    </dgm:pt>
    <dgm:pt modelId="{479419F9-7D44-4F42-91F2-BF9E7353E079}" type="pres">
      <dgm:prSet presAssocID="{BE8E4B97-C902-42C8-9232-24DB70521155}" presName="connectorText" presStyleLbl="sibTrans2D1" presStyleIdx="5" presStyleCnt="7"/>
      <dgm:spPr/>
    </dgm:pt>
    <dgm:pt modelId="{48D06A7C-868C-4DC1-B0B9-0B85BAA89F71}" type="pres">
      <dgm:prSet presAssocID="{22690F03-5387-4866-B2C8-8317EA96E686}" presName="node" presStyleLbl="node1" presStyleIdx="6" presStyleCnt="8">
        <dgm:presLayoutVars>
          <dgm:bulletEnabled val="1"/>
        </dgm:presLayoutVars>
      </dgm:prSet>
      <dgm:spPr/>
    </dgm:pt>
    <dgm:pt modelId="{EE2FDF95-4831-4D98-87BC-4D243346B69D}" type="pres">
      <dgm:prSet presAssocID="{A2EDAAF5-B7A7-4EC4-8893-72F7764562E4}" presName="sibTrans" presStyleLbl="sibTrans2D1" presStyleIdx="6" presStyleCnt="7"/>
      <dgm:spPr/>
    </dgm:pt>
    <dgm:pt modelId="{87BDBE6B-9192-41BD-8534-2A9457AB7589}" type="pres">
      <dgm:prSet presAssocID="{A2EDAAF5-B7A7-4EC4-8893-72F7764562E4}" presName="connectorText" presStyleLbl="sibTrans2D1" presStyleIdx="6" presStyleCnt="7"/>
      <dgm:spPr/>
    </dgm:pt>
    <dgm:pt modelId="{38DCAC58-43DA-4196-B228-854AB7F2AD7C}" type="pres">
      <dgm:prSet presAssocID="{0CC5C82C-A9A3-4F8D-BAE3-92D54F2C8D02}" presName="node" presStyleLbl="node1" presStyleIdx="7" presStyleCnt="8">
        <dgm:presLayoutVars>
          <dgm:bulletEnabled val="1"/>
        </dgm:presLayoutVars>
      </dgm:prSet>
      <dgm:spPr/>
    </dgm:pt>
  </dgm:ptLst>
  <dgm:cxnLst>
    <dgm:cxn modelId="{DE193205-AF6B-4A39-AE95-1B74F0231D8F}" type="presOf" srcId="{47BBCB56-3FD0-4BB6-B580-AA9A88C5023A}" destId="{42D731A9-EAC8-4763-8AE0-4BAC45FC5298}" srcOrd="0" destOrd="0" presId="urn:microsoft.com/office/officeart/2005/8/layout/process2"/>
    <dgm:cxn modelId="{93D8DB0B-678B-4A61-9CBC-865D20AE33AE}" type="presOf" srcId="{DA7DFFB1-D1E6-4C73-A6C2-286A87DECB98}" destId="{C9EF4F9C-C5AB-4435-8EEC-DE66B9077903}" srcOrd="1" destOrd="0" presId="urn:microsoft.com/office/officeart/2005/8/layout/process2"/>
    <dgm:cxn modelId="{BE82230E-9A3B-4EE6-A3B2-21C2A8CA243E}" type="presOf" srcId="{A2EDAAF5-B7A7-4EC4-8893-72F7764562E4}" destId="{EE2FDF95-4831-4D98-87BC-4D243346B69D}" srcOrd="0" destOrd="0" presId="urn:microsoft.com/office/officeart/2005/8/layout/process2"/>
    <dgm:cxn modelId="{4F99AC1B-A1AF-4B0A-82D5-EE562E6E9776}" type="presOf" srcId="{0CC5C82C-A9A3-4F8D-BAE3-92D54F2C8D02}" destId="{38DCAC58-43DA-4196-B228-854AB7F2AD7C}" srcOrd="0" destOrd="0" presId="urn:microsoft.com/office/officeart/2005/8/layout/process2"/>
    <dgm:cxn modelId="{0ACD831C-C51A-4B88-9EB9-1B82FCA1B36D}" type="presOf" srcId="{BE8E4B97-C902-42C8-9232-24DB70521155}" destId="{479419F9-7D44-4F42-91F2-BF9E7353E079}" srcOrd="1" destOrd="0" presId="urn:microsoft.com/office/officeart/2005/8/layout/process2"/>
    <dgm:cxn modelId="{19A05C23-EBD8-435B-AB8C-1CF9C95415FF}" srcId="{665C4685-8D17-4B41-8B60-71453CF73709}" destId="{0CC5C82C-A9A3-4F8D-BAE3-92D54F2C8D02}" srcOrd="7" destOrd="0" parTransId="{9F90F47E-AB4C-46D7-A971-2641C402DB6D}" sibTransId="{544909DB-F9D1-4197-A1E2-E8ACB241FD39}"/>
    <dgm:cxn modelId="{F5C6D723-0649-4720-977F-20C7BF8B9EB2}" type="presOf" srcId="{2BE7F7F4-2445-453A-BF68-BADF3504F600}" destId="{BA39F435-AF89-4425-B8E4-8C16062A80AB}" srcOrd="1" destOrd="0" presId="urn:microsoft.com/office/officeart/2005/8/layout/process2"/>
    <dgm:cxn modelId="{3613EE35-3F46-41AA-AA2F-BC6B59F49413}" srcId="{665C4685-8D17-4B41-8B60-71453CF73709}" destId="{67C73556-5C6C-40F2-BF1D-1FF1A52C44D0}" srcOrd="4" destOrd="0" parTransId="{187A6362-283E-4F38-BB45-E3D9477862B0}" sibTransId="{33CDBE05-1662-4FE4-B616-1585211A8316}"/>
    <dgm:cxn modelId="{7B53ED38-1A32-4324-B5EC-A1C1109913E3}" srcId="{665C4685-8D17-4B41-8B60-71453CF73709}" destId="{C262AAA7-2C2B-4DB2-A23B-261B6585F612}" srcOrd="3" destOrd="0" parTransId="{32AB4290-DFAC-47D0-A0FC-710F8536D6DE}" sibTransId="{16D3BBE8-136A-4817-8156-A001D6CD9949}"/>
    <dgm:cxn modelId="{52E6CA3C-C76C-4D22-845B-83ABB62BF850}" type="presOf" srcId="{33CDBE05-1662-4FE4-B616-1585211A8316}" destId="{291F1B84-6ABF-480C-9633-B45DDEA4552E}" srcOrd="0" destOrd="0" presId="urn:microsoft.com/office/officeart/2005/8/layout/process2"/>
    <dgm:cxn modelId="{7D4AF85E-48DC-4C84-8BD5-D3486B34C961}" type="presOf" srcId="{A2EDAAF5-B7A7-4EC4-8893-72F7764562E4}" destId="{87BDBE6B-9192-41BD-8534-2A9457AB7589}" srcOrd="1" destOrd="0" presId="urn:microsoft.com/office/officeart/2005/8/layout/process2"/>
    <dgm:cxn modelId="{86B38946-554C-4475-8202-82EA57842479}" type="presOf" srcId="{16D3BBE8-136A-4817-8156-A001D6CD9949}" destId="{EB3730F4-F508-4C8E-AC99-BD04A2AC672D}" srcOrd="1" destOrd="0" presId="urn:microsoft.com/office/officeart/2005/8/layout/process2"/>
    <dgm:cxn modelId="{2EB5D74A-6FE6-44A7-BD90-3CA5E0A2D569}" type="presOf" srcId="{661881F4-8AF9-40AA-8522-F9EED75A9A85}" destId="{89622970-55F5-4E8F-9824-D1AB49392014}" srcOrd="0" destOrd="0" presId="urn:microsoft.com/office/officeart/2005/8/layout/process2"/>
    <dgm:cxn modelId="{9833CC6F-8A6C-4835-9E8E-E53FFA17C28D}" type="presOf" srcId="{DD01EAAF-7B4E-4CD9-B6B4-533192786442}" destId="{A135BA6F-DFD5-444D-AA8B-F1ABEF10D75C}" srcOrd="0" destOrd="0" presId="urn:microsoft.com/office/officeart/2005/8/layout/process2"/>
    <dgm:cxn modelId="{D8CF7B70-ED98-47DC-9D41-3F0EDF1D7DEB}" type="presOf" srcId="{67C73556-5C6C-40F2-BF1D-1FF1A52C44D0}" destId="{A6A5FE6C-91C3-4B6A-B0A1-B451B1676FC7}" srcOrd="0" destOrd="0" presId="urn:microsoft.com/office/officeart/2005/8/layout/process2"/>
    <dgm:cxn modelId="{251F0074-1E44-480E-986B-A148FC79AAEE}" srcId="{665C4685-8D17-4B41-8B60-71453CF73709}" destId="{22690F03-5387-4866-B2C8-8317EA96E686}" srcOrd="6" destOrd="0" parTransId="{4D2050F8-C781-49E7-A81E-D4881F23A442}" sibTransId="{A2EDAAF5-B7A7-4EC4-8893-72F7764562E4}"/>
    <dgm:cxn modelId="{AF09EE74-32E8-4BEF-95C1-192E943AECD8}" type="presOf" srcId="{33CDBE05-1662-4FE4-B616-1585211A8316}" destId="{5EF0616C-BF8A-475F-AE86-8BAE808BBFB3}" srcOrd="1" destOrd="0" presId="urn:microsoft.com/office/officeart/2005/8/layout/process2"/>
    <dgm:cxn modelId="{FE21AF7D-309D-4198-B3B1-CDBA84CA9916}" type="presOf" srcId="{2BE7F7F4-2445-453A-BF68-BADF3504F600}" destId="{0DBC569F-8C50-48DF-88C7-1FA30142D095}" srcOrd="0" destOrd="0" presId="urn:microsoft.com/office/officeart/2005/8/layout/process2"/>
    <dgm:cxn modelId="{1337C480-F7ED-48A5-999A-368BBB77EF5F}" type="presOf" srcId="{665C4685-8D17-4B41-8B60-71453CF73709}" destId="{C897509E-B298-4A5B-A347-A2DDE7A4A82D}" srcOrd="0" destOrd="0" presId="urn:microsoft.com/office/officeart/2005/8/layout/process2"/>
    <dgm:cxn modelId="{CE0EBF8C-DEE2-4FB9-8955-62C794C4F612}" type="presOf" srcId="{C5419276-D365-4498-8FB0-C62277F52E70}" destId="{26701E86-8473-461D-96F3-8BA9DF19546E}" srcOrd="0" destOrd="0" presId="urn:microsoft.com/office/officeart/2005/8/layout/process2"/>
    <dgm:cxn modelId="{5F6B708D-0047-4E8B-B751-1A17E479F3E6}" srcId="{665C4685-8D17-4B41-8B60-71453CF73709}" destId="{C5419276-D365-4498-8FB0-C62277F52E70}" srcOrd="5" destOrd="0" parTransId="{363AB479-E191-459A-B482-18CC350A6DAF}" sibTransId="{BE8E4B97-C902-42C8-9232-24DB70521155}"/>
    <dgm:cxn modelId="{9EF5F78D-AB64-4FF8-A534-1BD6CC050937}" type="presOf" srcId="{C262AAA7-2C2B-4DB2-A23B-261B6585F612}" destId="{D03AC2A6-F156-4217-AE9C-64F8FF99E71E}" srcOrd="0" destOrd="0" presId="urn:microsoft.com/office/officeart/2005/8/layout/process2"/>
    <dgm:cxn modelId="{17563692-9187-4354-9E19-EC972FAEA42F}" srcId="{665C4685-8D17-4B41-8B60-71453CF73709}" destId="{661881F4-8AF9-40AA-8522-F9EED75A9A85}" srcOrd="2" destOrd="0" parTransId="{09ED6700-03AA-4641-96B3-054606437709}" sibTransId="{2BE7F7F4-2445-453A-BF68-BADF3504F600}"/>
    <dgm:cxn modelId="{8D99D1A3-DD00-4EE8-B711-D54469F2A724}" type="presOf" srcId="{16D3BBE8-136A-4817-8156-A001D6CD9949}" destId="{1EC00AEC-704C-4132-A46B-DA94F5411D1D}" srcOrd="0" destOrd="0" presId="urn:microsoft.com/office/officeart/2005/8/layout/process2"/>
    <dgm:cxn modelId="{CDC45BAA-04AC-4812-8132-8D9618C0A63F}" srcId="{665C4685-8D17-4B41-8B60-71453CF73709}" destId="{47BBCB56-3FD0-4BB6-B580-AA9A88C5023A}" srcOrd="0" destOrd="0" parTransId="{7ADC00C3-64AD-4350-A484-42CA8ECE564A}" sibTransId="{DA7DFFB1-D1E6-4C73-A6C2-286A87DECB98}"/>
    <dgm:cxn modelId="{3CBC28AE-B5F1-4FEB-A242-05FCA4AC4224}" type="presOf" srcId="{4C2F3BDF-FCD6-4946-ABFC-ADCDE7F457BE}" destId="{D446A017-0A8C-4600-B326-B8910A2C7485}" srcOrd="1" destOrd="0" presId="urn:microsoft.com/office/officeart/2005/8/layout/process2"/>
    <dgm:cxn modelId="{CEB2E4BA-7EBC-4381-A613-A3546C7FD551}" type="presOf" srcId="{BE8E4B97-C902-42C8-9232-24DB70521155}" destId="{0C6E4420-F2D7-4778-846E-D07E4CF885AD}" srcOrd="0" destOrd="0" presId="urn:microsoft.com/office/officeart/2005/8/layout/process2"/>
    <dgm:cxn modelId="{64EA47BC-6C48-4678-B86F-6061E88F7AD5}" type="presOf" srcId="{22690F03-5387-4866-B2C8-8317EA96E686}" destId="{48D06A7C-868C-4DC1-B0B9-0B85BAA89F71}" srcOrd="0" destOrd="0" presId="urn:microsoft.com/office/officeart/2005/8/layout/process2"/>
    <dgm:cxn modelId="{C9E708C3-B354-402D-B0DB-90B678925A77}" type="presOf" srcId="{4C2F3BDF-FCD6-4946-ABFC-ADCDE7F457BE}" destId="{2A4C751A-2191-401D-9E33-0A0A1AD09CB1}" srcOrd="0" destOrd="0" presId="urn:microsoft.com/office/officeart/2005/8/layout/process2"/>
    <dgm:cxn modelId="{85C3B6C4-9823-4CEB-BE1C-B5F8EAABF6F5}" srcId="{665C4685-8D17-4B41-8B60-71453CF73709}" destId="{DD01EAAF-7B4E-4CD9-B6B4-533192786442}" srcOrd="1" destOrd="0" parTransId="{09D4634C-5DC3-40D8-963D-E51492A252EA}" sibTransId="{4C2F3BDF-FCD6-4946-ABFC-ADCDE7F457BE}"/>
    <dgm:cxn modelId="{09BD6BEB-341C-498C-9770-2BDF1F1014B7}" type="presOf" srcId="{DA7DFFB1-D1E6-4C73-A6C2-286A87DECB98}" destId="{DEBEABF5-FBFA-4C7C-86D0-43DB349B4FC4}" srcOrd="0" destOrd="0" presId="urn:microsoft.com/office/officeart/2005/8/layout/process2"/>
    <dgm:cxn modelId="{3849B6A8-20E9-48AE-BC5F-30DD2187F54E}" type="presParOf" srcId="{C897509E-B298-4A5B-A347-A2DDE7A4A82D}" destId="{42D731A9-EAC8-4763-8AE0-4BAC45FC5298}" srcOrd="0" destOrd="0" presId="urn:microsoft.com/office/officeart/2005/8/layout/process2"/>
    <dgm:cxn modelId="{3789D557-E005-4B87-8132-92D7A1C1BB83}" type="presParOf" srcId="{C897509E-B298-4A5B-A347-A2DDE7A4A82D}" destId="{DEBEABF5-FBFA-4C7C-86D0-43DB349B4FC4}" srcOrd="1" destOrd="0" presId="urn:microsoft.com/office/officeart/2005/8/layout/process2"/>
    <dgm:cxn modelId="{9D71FADA-95F1-40E5-B8CD-7C111ED6E744}" type="presParOf" srcId="{DEBEABF5-FBFA-4C7C-86D0-43DB349B4FC4}" destId="{C9EF4F9C-C5AB-4435-8EEC-DE66B9077903}" srcOrd="0" destOrd="0" presId="urn:microsoft.com/office/officeart/2005/8/layout/process2"/>
    <dgm:cxn modelId="{E161BBFA-55B9-4969-8452-E404739B8AB3}" type="presParOf" srcId="{C897509E-B298-4A5B-A347-A2DDE7A4A82D}" destId="{A135BA6F-DFD5-444D-AA8B-F1ABEF10D75C}" srcOrd="2" destOrd="0" presId="urn:microsoft.com/office/officeart/2005/8/layout/process2"/>
    <dgm:cxn modelId="{C18D5652-72C3-4F56-BC12-53CB896D8EAF}" type="presParOf" srcId="{C897509E-B298-4A5B-A347-A2DDE7A4A82D}" destId="{2A4C751A-2191-401D-9E33-0A0A1AD09CB1}" srcOrd="3" destOrd="0" presId="urn:microsoft.com/office/officeart/2005/8/layout/process2"/>
    <dgm:cxn modelId="{D13FAF98-4486-4162-B59A-8CDAE474CCCB}" type="presParOf" srcId="{2A4C751A-2191-401D-9E33-0A0A1AD09CB1}" destId="{D446A017-0A8C-4600-B326-B8910A2C7485}" srcOrd="0" destOrd="0" presId="urn:microsoft.com/office/officeart/2005/8/layout/process2"/>
    <dgm:cxn modelId="{595B0F04-8442-45A4-8CC9-52838CAECB1F}" type="presParOf" srcId="{C897509E-B298-4A5B-A347-A2DDE7A4A82D}" destId="{89622970-55F5-4E8F-9824-D1AB49392014}" srcOrd="4" destOrd="0" presId="urn:microsoft.com/office/officeart/2005/8/layout/process2"/>
    <dgm:cxn modelId="{60C96EDC-54F7-44D0-AD64-0AEA0D343948}" type="presParOf" srcId="{C897509E-B298-4A5B-A347-A2DDE7A4A82D}" destId="{0DBC569F-8C50-48DF-88C7-1FA30142D095}" srcOrd="5" destOrd="0" presId="urn:microsoft.com/office/officeart/2005/8/layout/process2"/>
    <dgm:cxn modelId="{931017ED-5E18-44CC-A57F-426C039F0180}" type="presParOf" srcId="{0DBC569F-8C50-48DF-88C7-1FA30142D095}" destId="{BA39F435-AF89-4425-B8E4-8C16062A80AB}" srcOrd="0" destOrd="0" presId="urn:microsoft.com/office/officeart/2005/8/layout/process2"/>
    <dgm:cxn modelId="{1667747E-1789-4A1F-BF76-08AD59ED5803}" type="presParOf" srcId="{C897509E-B298-4A5B-A347-A2DDE7A4A82D}" destId="{D03AC2A6-F156-4217-AE9C-64F8FF99E71E}" srcOrd="6" destOrd="0" presId="urn:microsoft.com/office/officeart/2005/8/layout/process2"/>
    <dgm:cxn modelId="{6E96527E-9451-4451-817F-4540632306A0}" type="presParOf" srcId="{C897509E-B298-4A5B-A347-A2DDE7A4A82D}" destId="{1EC00AEC-704C-4132-A46B-DA94F5411D1D}" srcOrd="7" destOrd="0" presId="urn:microsoft.com/office/officeart/2005/8/layout/process2"/>
    <dgm:cxn modelId="{AF132A24-3CD3-43DC-8209-FEEA516CC084}" type="presParOf" srcId="{1EC00AEC-704C-4132-A46B-DA94F5411D1D}" destId="{EB3730F4-F508-4C8E-AC99-BD04A2AC672D}" srcOrd="0" destOrd="0" presId="urn:microsoft.com/office/officeart/2005/8/layout/process2"/>
    <dgm:cxn modelId="{C19F7BFB-17AA-4B7E-917A-F38A93307F00}" type="presParOf" srcId="{C897509E-B298-4A5B-A347-A2DDE7A4A82D}" destId="{A6A5FE6C-91C3-4B6A-B0A1-B451B1676FC7}" srcOrd="8" destOrd="0" presId="urn:microsoft.com/office/officeart/2005/8/layout/process2"/>
    <dgm:cxn modelId="{51D742F0-7F39-4097-9383-B04EE3AAF987}" type="presParOf" srcId="{C897509E-B298-4A5B-A347-A2DDE7A4A82D}" destId="{291F1B84-6ABF-480C-9633-B45DDEA4552E}" srcOrd="9" destOrd="0" presId="urn:microsoft.com/office/officeart/2005/8/layout/process2"/>
    <dgm:cxn modelId="{D3F5DDFA-5FC9-4CBF-B999-2E0B8D073869}" type="presParOf" srcId="{291F1B84-6ABF-480C-9633-B45DDEA4552E}" destId="{5EF0616C-BF8A-475F-AE86-8BAE808BBFB3}" srcOrd="0" destOrd="0" presId="urn:microsoft.com/office/officeart/2005/8/layout/process2"/>
    <dgm:cxn modelId="{504F10C4-77EA-4D92-A485-AAE29039DE68}" type="presParOf" srcId="{C897509E-B298-4A5B-A347-A2DDE7A4A82D}" destId="{26701E86-8473-461D-96F3-8BA9DF19546E}" srcOrd="10" destOrd="0" presId="urn:microsoft.com/office/officeart/2005/8/layout/process2"/>
    <dgm:cxn modelId="{350E35AE-937B-4AAF-9C23-EE1D856B446A}" type="presParOf" srcId="{C897509E-B298-4A5B-A347-A2DDE7A4A82D}" destId="{0C6E4420-F2D7-4778-846E-D07E4CF885AD}" srcOrd="11" destOrd="0" presId="urn:microsoft.com/office/officeart/2005/8/layout/process2"/>
    <dgm:cxn modelId="{DB5D0E94-3637-42EA-83B5-D8AF6DEE79A8}" type="presParOf" srcId="{0C6E4420-F2D7-4778-846E-D07E4CF885AD}" destId="{479419F9-7D44-4F42-91F2-BF9E7353E079}" srcOrd="0" destOrd="0" presId="urn:microsoft.com/office/officeart/2005/8/layout/process2"/>
    <dgm:cxn modelId="{AF9D4282-7626-4691-BD63-1C114D01A1C4}" type="presParOf" srcId="{C897509E-B298-4A5B-A347-A2DDE7A4A82D}" destId="{48D06A7C-868C-4DC1-B0B9-0B85BAA89F71}" srcOrd="12" destOrd="0" presId="urn:microsoft.com/office/officeart/2005/8/layout/process2"/>
    <dgm:cxn modelId="{BA20B03F-9B41-46AB-88DC-891A1E41D155}" type="presParOf" srcId="{C897509E-B298-4A5B-A347-A2DDE7A4A82D}" destId="{EE2FDF95-4831-4D98-87BC-4D243346B69D}" srcOrd="13" destOrd="0" presId="urn:microsoft.com/office/officeart/2005/8/layout/process2"/>
    <dgm:cxn modelId="{C61E5319-5561-4F6B-8E59-0063CEA06C5D}" type="presParOf" srcId="{EE2FDF95-4831-4D98-87BC-4D243346B69D}" destId="{87BDBE6B-9192-41BD-8534-2A9457AB7589}" srcOrd="0" destOrd="0" presId="urn:microsoft.com/office/officeart/2005/8/layout/process2"/>
    <dgm:cxn modelId="{C4A31669-1BA5-4987-BC88-9C78EDDE5D7C}" type="presParOf" srcId="{C897509E-B298-4A5B-A347-A2DDE7A4A82D}" destId="{38DCAC58-43DA-4196-B228-854AB7F2AD7C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731A9-EAC8-4763-8AE0-4BAC45FC5298}">
      <dsp:nvSpPr>
        <dsp:cNvPr id="0" name=""/>
        <dsp:cNvSpPr/>
      </dsp:nvSpPr>
      <dsp:spPr>
        <a:xfrm>
          <a:off x="3490158" y="1338"/>
          <a:ext cx="1303066" cy="476515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Start</a:t>
          </a:r>
        </a:p>
      </dsp:txBody>
      <dsp:txXfrm>
        <a:off x="3504115" y="15295"/>
        <a:ext cx="1275152" cy="448601"/>
      </dsp:txXfrm>
    </dsp:sp>
    <dsp:sp modelId="{DEBEABF5-FBFA-4C7C-86D0-43DB349B4FC4}">
      <dsp:nvSpPr>
        <dsp:cNvPr id="0" name=""/>
        <dsp:cNvSpPr/>
      </dsp:nvSpPr>
      <dsp:spPr>
        <a:xfrm rot="5400000">
          <a:off x="4052345" y="489767"/>
          <a:ext cx="178693" cy="214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4077362" y="507636"/>
        <a:ext cx="128660" cy="125085"/>
      </dsp:txXfrm>
    </dsp:sp>
    <dsp:sp modelId="{A135BA6F-DFD5-444D-AA8B-F1ABEF10D75C}">
      <dsp:nvSpPr>
        <dsp:cNvPr id="0" name=""/>
        <dsp:cNvSpPr/>
      </dsp:nvSpPr>
      <dsp:spPr>
        <a:xfrm>
          <a:off x="3490158" y="716112"/>
          <a:ext cx="1303066" cy="476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Input Data (LMS + Academic)</a:t>
          </a:r>
        </a:p>
      </dsp:txBody>
      <dsp:txXfrm>
        <a:off x="3504115" y="730069"/>
        <a:ext cx="1275152" cy="448601"/>
      </dsp:txXfrm>
    </dsp:sp>
    <dsp:sp modelId="{2A4C751A-2191-401D-9E33-0A0A1AD09CB1}">
      <dsp:nvSpPr>
        <dsp:cNvPr id="0" name=""/>
        <dsp:cNvSpPr/>
      </dsp:nvSpPr>
      <dsp:spPr>
        <a:xfrm rot="5400000">
          <a:off x="4052345" y="1204541"/>
          <a:ext cx="178693" cy="214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4077362" y="1222410"/>
        <a:ext cx="128660" cy="125085"/>
      </dsp:txXfrm>
    </dsp:sp>
    <dsp:sp modelId="{89622970-55F5-4E8F-9824-D1AB49392014}">
      <dsp:nvSpPr>
        <dsp:cNvPr id="0" name=""/>
        <dsp:cNvSpPr/>
      </dsp:nvSpPr>
      <dsp:spPr>
        <a:xfrm>
          <a:off x="3490158" y="1430886"/>
          <a:ext cx="1303066" cy="476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 Preprocessing</a:t>
          </a:r>
        </a:p>
      </dsp:txBody>
      <dsp:txXfrm>
        <a:off x="3504115" y="1444843"/>
        <a:ext cx="1275152" cy="448601"/>
      </dsp:txXfrm>
    </dsp:sp>
    <dsp:sp modelId="{0DBC569F-8C50-48DF-88C7-1FA30142D095}">
      <dsp:nvSpPr>
        <dsp:cNvPr id="0" name=""/>
        <dsp:cNvSpPr/>
      </dsp:nvSpPr>
      <dsp:spPr>
        <a:xfrm rot="5400000">
          <a:off x="4052345" y="1919315"/>
          <a:ext cx="178693" cy="214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4077362" y="1937184"/>
        <a:ext cx="128660" cy="125085"/>
      </dsp:txXfrm>
    </dsp:sp>
    <dsp:sp modelId="{D03AC2A6-F156-4217-AE9C-64F8FF99E71E}">
      <dsp:nvSpPr>
        <dsp:cNvPr id="0" name=""/>
        <dsp:cNvSpPr/>
      </dsp:nvSpPr>
      <dsp:spPr>
        <a:xfrm>
          <a:off x="3490158" y="2145660"/>
          <a:ext cx="1303066" cy="476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Feature Engineering</a:t>
          </a:r>
        </a:p>
      </dsp:txBody>
      <dsp:txXfrm>
        <a:off x="3504115" y="2159617"/>
        <a:ext cx="1275152" cy="448601"/>
      </dsp:txXfrm>
    </dsp:sp>
    <dsp:sp modelId="{1EC00AEC-704C-4132-A46B-DA94F5411D1D}">
      <dsp:nvSpPr>
        <dsp:cNvPr id="0" name=""/>
        <dsp:cNvSpPr/>
      </dsp:nvSpPr>
      <dsp:spPr>
        <a:xfrm rot="5400000">
          <a:off x="4052345" y="2634088"/>
          <a:ext cx="178693" cy="214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4077362" y="2651957"/>
        <a:ext cx="128660" cy="125085"/>
      </dsp:txXfrm>
    </dsp:sp>
    <dsp:sp modelId="{A6A5FE6C-91C3-4B6A-B0A1-B451B1676FC7}">
      <dsp:nvSpPr>
        <dsp:cNvPr id="0" name=""/>
        <dsp:cNvSpPr/>
      </dsp:nvSpPr>
      <dsp:spPr>
        <a:xfrm>
          <a:off x="3490158" y="2860433"/>
          <a:ext cx="1303066" cy="476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Model (Gradient Boosting)</a:t>
          </a:r>
        </a:p>
      </dsp:txBody>
      <dsp:txXfrm>
        <a:off x="3504115" y="2874390"/>
        <a:ext cx="1275152" cy="448601"/>
      </dsp:txXfrm>
    </dsp:sp>
    <dsp:sp modelId="{291F1B84-6ABF-480C-9633-B45DDEA4552E}">
      <dsp:nvSpPr>
        <dsp:cNvPr id="0" name=""/>
        <dsp:cNvSpPr/>
      </dsp:nvSpPr>
      <dsp:spPr>
        <a:xfrm rot="5400000">
          <a:off x="4052345" y="3348862"/>
          <a:ext cx="178693" cy="214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4077362" y="3366731"/>
        <a:ext cx="128660" cy="125085"/>
      </dsp:txXfrm>
    </dsp:sp>
    <dsp:sp modelId="{26701E86-8473-461D-96F3-8BA9DF19546E}">
      <dsp:nvSpPr>
        <dsp:cNvPr id="0" name=""/>
        <dsp:cNvSpPr/>
      </dsp:nvSpPr>
      <dsp:spPr>
        <a:xfrm>
          <a:off x="3490158" y="3575207"/>
          <a:ext cx="1303066" cy="476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Risk Level (Low / Medium / High)</a:t>
          </a:r>
        </a:p>
      </dsp:txBody>
      <dsp:txXfrm>
        <a:off x="3504115" y="3589164"/>
        <a:ext cx="1275152" cy="448601"/>
      </dsp:txXfrm>
    </dsp:sp>
    <dsp:sp modelId="{0C6E4420-F2D7-4778-846E-D07E4CF885AD}">
      <dsp:nvSpPr>
        <dsp:cNvPr id="0" name=""/>
        <dsp:cNvSpPr/>
      </dsp:nvSpPr>
      <dsp:spPr>
        <a:xfrm rot="5400000">
          <a:off x="4052345" y="4063636"/>
          <a:ext cx="178693" cy="214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4077362" y="4081505"/>
        <a:ext cx="128660" cy="125085"/>
      </dsp:txXfrm>
    </dsp:sp>
    <dsp:sp modelId="{48D06A7C-868C-4DC1-B0B9-0B85BAA89F71}">
      <dsp:nvSpPr>
        <dsp:cNvPr id="0" name=""/>
        <dsp:cNvSpPr/>
      </dsp:nvSpPr>
      <dsp:spPr>
        <a:xfrm>
          <a:off x="3490158" y="4289981"/>
          <a:ext cx="1303066" cy="476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Visualization (Dashboard)</a:t>
          </a:r>
        </a:p>
      </dsp:txBody>
      <dsp:txXfrm>
        <a:off x="3504115" y="4303938"/>
        <a:ext cx="1275152" cy="448601"/>
      </dsp:txXfrm>
    </dsp:sp>
    <dsp:sp modelId="{EE2FDF95-4831-4D98-87BC-4D243346B69D}">
      <dsp:nvSpPr>
        <dsp:cNvPr id="0" name=""/>
        <dsp:cNvSpPr/>
      </dsp:nvSpPr>
      <dsp:spPr>
        <a:xfrm rot="5400000">
          <a:off x="4052345" y="4778410"/>
          <a:ext cx="178693" cy="214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4077362" y="4796279"/>
        <a:ext cx="128660" cy="125085"/>
      </dsp:txXfrm>
    </dsp:sp>
    <dsp:sp modelId="{38DCAC58-43DA-4196-B228-854AB7F2AD7C}">
      <dsp:nvSpPr>
        <dsp:cNvPr id="0" name=""/>
        <dsp:cNvSpPr/>
      </dsp:nvSpPr>
      <dsp:spPr>
        <a:xfrm>
          <a:off x="3490158" y="5004755"/>
          <a:ext cx="1303066" cy="476515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End</a:t>
          </a:r>
        </a:p>
      </dsp:txBody>
      <dsp:txXfrm>
        <a:off x="3504115" y="5018712"/>
        <a:ext cx="1275152" cy="4486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DFF7B-7876-476D-9817-44EEECDE7C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DFC35-57B6-4606-A2D9-F0222A5C8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DFC35-57B6-4606-A2D9-F0222A5C8A7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34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DFC35-57B6-4606-A2D9-F0222A5C8A74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424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DFC35-57B6-4606-A2D9-F0222A5C8A74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352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979A335-BFB9-AAF4-8BAA-F6AA4FD1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FF23B-171D-471C-BD36-2D0F3A67807C}" type="datetime1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24E6499-99E1-5E0A-F4D8-0B5071E4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675483-2FD4-D24E-DADC-E63111D5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453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242E6-CFCB-473D-8DE4-DBEBF5C1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C64AC5-3894-4FBB-8975-13EB1DB8DC29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B7CD5-2550-DB8D-26F8-027AF7E19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6C51F-13A2-B94E-0452-050561AA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97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55CF0-ABD6-66F1-67F5-836326AB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C1E13E-385D-4576-A100-69A004E17DA6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945ED-DEA5-AD26-0679-3CCE6058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C1ED-31B6-07E2-4040-23F46BA6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027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FF1E6-C3FD-8DC1-9688-6478CAF8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AA223D-2542-4258-9E8D-7AA5AD35F6CD}" type="datetime1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A91A9-C2A8-B8FC-7EDD-9663FD0B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E2D58-A2BD-6749-279B-7D28B387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987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1B3C8-B474-4F6E-6BB3-FA075D69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E55CD5-F841-4E64-889C-5E5E14345BD0}" type="datetime1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9A921A-9EC6-0DF2-79F5-6F853204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36F6D-C327-9C66-1C8D-D7352B06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127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F204F-0527-F359-E020-C43A7A1E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EDD59E-1B5D-4786-A960-698D3B3A987B}" type="datetime1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F5C84-7D85-6B3B-4A48-36E85A4C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28A42-FE07-DE2E-EBAE-42B1BB1F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010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F3302-8D61-C056-96BB-694507EF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72AF16-0324-4CB5-BF94-93F7E9EFF89A}" type="datetime1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43D02-CCC0-D13A-998C-CB44054C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098C0-B884-165A-2694-973A56D8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27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1A566-EA49-2977-8317-6FB23668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57C84E-F0B9-4ADC-986F-1DB115FD93B9}" type="datetime1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BDFB9-862F-16D1-7A43-6B67A6BA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EEF3A-C8B2-956C-D15D-86434F20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65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BCC3F-66AE-D685-917C-BCE23EBF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FE89-EA5A-4C24-95E7-6963E505006B}" type="datetime1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C573-3CAA-6017-0BFA-B1CAB904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16E67-65BF-8531-9B7F-D0AB1116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159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87074-245E-87F5-DFC8-F77FA4B66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7C52A0-4C51-420B-BF57-FAF0CD0E6621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67015-6888-E53F-F21D-DC01C60B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566B7-60AE-81B8-5DE4-D6BFD289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8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34291"/>
            <a:ext cx="2628900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34291"/>
            <a:ext cx="7734300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EEC42-DA93-168A-2B53-EF25A373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72F860-3138-4D6D-8E16-7172FEACE899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B2B8-EC58-8D37-46A2-4312FBD9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C8FE-9ACC-AEDE-88A1-C2C2CA5C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603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8792EE-EA1B-511C-9257-0EAF45224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812800"/>
            <a:ext cx="10515600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697C5F7-0279-4B15-1CB7-D1A483C70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CFADE-5B20-75C0-424F-0F2AFB6DF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fld id="{E0F2942C-538E-49F4-BC5F-AB443059ECD1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AFD65-0BAE-358D-C0AE-A5DD4E019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A6229-5562-F65D-A0BA-E4ABF542A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  <p:pic>
        <p:nvPicPr>
          <p:cNvPr id="1031" name="Picture 6">
            <a:extLst>
              <a:ext uri="{FF2B5EF4-FFF2-40B4-BE49-F238E27FC236}">
                <a16:creationId xmlns:a16="http://schemas.microsoft.com/office/drawing/2014/main" id="{AF28A348-F62E-1D25-462F-F2D80714B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136525"/>
            <a:ext cx="18002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">
            <a:extLst>
              <a:ext uri="{FF2B5EF4-FFF2-40B4-BE49-F238E27FC236}">
                <a16:creationId xmlns:a16="http://schemas.microsoft.com/office/drawing/2014/main" id="{2185E301-5D10-BC61-9226-34AFFC72B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3" t="24036" r="8813" b="24036"/>
          <a:stretch>
            <a:fillRect/>
          </a:stretch>
        </p:blipFill>
        <p:spPr bwMode="auto">
          <a:xfrm>
            <a:off x="10541000" y="44450"/>
            <a:ext cx="16256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313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ohammedsinanaa5@gmail.com" TargetMode="External"/><Relationship Id="rId7" Type="http://schemas.openxmlformats.org/officeDocument/2006/relationships/image" Target="../media/image5.png"/><Relationship Id="rId2" Type="http://schemas.openxmlformats.org/officeDocument/2006/relationships/hyperlink" Target="mailto:adilmuhammedkm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github.com/adilmuhammedkm/Silent-Burnout-AI" TargetMode="External"/><Relationship Id="rId4" Type="http://schemas.openxmlformats.org/officeDocument/2006/relationships/hyperlink" Target="mailto:althafk7171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" TargetMode="External"/><Relationship Id="rId2" Type="http://schemas.openxmlformats.org/officeDocument/2006/relationships/hyperlink" Target="https://scikit-learn.org/stable/supervised_learning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" TargetMode="External"/><Relationship Id="rId5" Type="http://schemas.openxmlformats.org/officeDocument/2006/relationships/hyperlink" Target="https://archive.ics.uci.edu/" TargetMode="External"/><Relationship Id="rId4" Type="http://schemas.openxmlformats.org/officeDocument/2006/relationships/hyperlink" Target="https://www.kaggle.com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silent-burnout-ai.streamlit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5DB5A7F-D498-1C36-5D2B-EB9D5D943F89}"/>
              </a:ext>
            </a:extLst>
          </p:cNvPr>
          <p:cNvSpPr txBox="1">
            <a:spLocks/>
          </p:cNvSpPr>
          <p:nvPr/>
        </p:nvSpPr>
        <p:spPr bwMode="auto">
          <a:xfrm>
            <a:off x="1611206" y="266724"/>
            <a:ext cx="9882382" cy="1528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dirty="0">
                <a:latin typeface="Apple Braille" pitchFamily="2" charset="0"/>
              </a:rPr>
              <a:t>Silent Burnout: A Multimodal AI Framework for Early Detection of Academic Disengagement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3F242B4-ABBE-5A59-6061-6EBEA0793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303" y="4227162"/>
            <a:ext cx="9460465" cy="2143592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latin typeface="Apple Braille" pitchFamily="2" charset="0"/>
              </a:rPr>
              <a:t>Prepared By: </a:t>
            </a:r>
            <a:r>
              <a:rPr lang="en-US" dirty="0">
                <a:latin typeface="Apple Braille" pitchFamily="2" charset="0"/>
              </a:rPr>
              <a:t>Adil Muhammed K M, Mohammed Sinan A </a:t>
            </a:r>
            <a:r>
              <a:rPr lang="en-US" dirty="0" err="1">
                <a:latin typeface="Apple Braille" pitchFamily="2" charset="0"/>
              </a:rPr>
              <a:t>A</a:t>
            </a:r>
            <a:r>
              <a:rPr lang="en-US" dirty="0">
                <a:latin typeface="Apple Braille" pitchFamily="2" charset="0"/>
              </a:rPr>
              <a:t>, Muhammed Althaf K</a:t>
            </a:r>
          </a:p>
          <a:p>
            <a:pPr algn="l"/>
            <a:r>
              <a:rPr lang="en-US" b="1" dirty="0">
                <a:latin typeface="Apple Braille" pitchFamily="2" charset="0"/>
              </a:rPr>
              <a:t>Regd. No:  </a:t>
            </a:r>
            <a:r>
              <a:rPr lang="en-US" dirty="0">
                <a:latin typeface="Apple Braille" pitchFamily="2" charset="0"/>
              </a:rPr>
              <a:t>12220729, 12220964, 12205672</a:t>
            </a:r>
          </a:p>
          <a:p>
            <a:pPr algn="l"/>
            <a:r>
              <a:rPr lang="en-US" b="1" dirty="0">
                <a:latin typeface="Apple Braille" pitchFamily="2" charset="0"/>
              </a:rPr>
              <a:t>Roll No: </a:t>
            </a:r>
            <a:r>
              <a:rPr lang="en-US" dirty="0">
                <a:latin typeface="Apple Braille" pitchFamily="2" charset="0"/>
              </a:rPr>
              <a:t>R222UGB59, R222UGB40, R222UNA08</a:t>
            </a:r>
          </a:p>
          <a:p>
            <a:pPr algn="l"/>
            <a:r>
              <a:rPr lang="en-US" b="1" dirty="0">
                <a:latin typeface="Apple Braille" pitchFamily="2" charset="0"/>
              </a:rPr>
              <a:t>Course Code :  </a:t>
            </a:r>
            <a:r>
              <a:rPr lang="en-US" dirty="0">
                <a:latin typeface="Apple Braille" pitchFamily="2" charset="0"/>
              </a:rPr>
              <a:t>CSE461</a:t>
            </a:r>
            <a:endParaRPr lang="en-IN" dirty="0">
              <a:latin typeface="Apple Braille" pitchFamily="2" charset="0"/>
            </a:endParaRPr>
          </a:p>
          <a:p>
            <a:pPr algn="l"/>
            <a:r>
              <a:rPr lang="en-US" b="1" dirty="0">
                <a:latin typeface="Apple Braille" pitchFamily="2" charset="0"/>
              </a:rPr>
              <a:t>Current mobile:  </a:t>
            </a:r>
            <a:r>
              <a:rPr lang="en-US" dirty="0">
                <a:latin typeface="Apple Braille" pitchFamily="2" charset="0"/>
              </a:rPr>
              <a:t>+91 8281999491, +91 8289814657, +91 7736212397</a:t>
            </a:r>
            <a:endParaRPr lang="en-IN" dirty="0">
              <a:latin typeface="Apple Braille" pitchFamily="2" charset="0"/>
            </a:endParaRPr>
          </a:p>
          <a:p>
            <a:pPr algn="l"/>
            <a:r>
              <a:rPr lang="en-US" b="1" dirty="0">
                <a:latin typeface="Apple Braille" pitchFamily="2" charset="0"/>
              </a:rPr>
              <a:t>Email: </a:t>
            </a:r>
            <a:r>
              <a:rPr lang="en-US" u="sng" dirty="0">
                <a:solidFill>
                  <a:srgbClr val="0070C0"/>
                </a:solidFill>
                <a:latin typeface="Apple Braille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adilmuhammedkm@gmail.com</a:t>
            </a:r>
            <a:r>
              <a:rPr lang="en-US" dirty="0">
                <a:latin typeface="Apple Braille" pitchFamily="2" charset="0"/>
              </a:rPr>
              <a:t>, </a:t>
            </a:r>
            <a:r>
              <a:rPr lang="en-US" u="sng" dirty="0">
                <a:latin typeface="Apple Braille" pitchFamily="2" charset="0"/>
                <a:hlinkClick r:id="rId3"/>
              </a:rPr>
              <a:t>mohammedsinanaa5@gmail.com</a:t>
            </a:r>
            <a:r>
              <a:rPr lang="en-US" dirty="0">
                <a:latin typeface="Apple Braille" pitchFamily="2" charset="0"/>
              </a:rPr>
              <a:t>, </a:t>
            </a:r>
            <a:r>
              <a:rPr lang="en-US" u="sng" dirty="0">
                <a:latin typeface="Apple Braille" pitchFamily="2" charset="0"/>
                <a:hlinkClick r:id="rId4"/>
              </a:rPr>
              <a:t>althafk7171@gmail.com</a:t>
            </a:r>
            <a:endParaRPr lang="en-US" u="sng" dirty="0">
              <a:latin typeface="Apple Braille" pitchFamily="2" charset="0"/>
            </a:endParaRPr>
          </a:p>
          <a:p>
            <a:pPr algn="l"/>
            <a:r>
              <a:rPr lang="en-US" b="1" dirty="0">
                <a:latin typeface="Apple Braille" pitchFamily="2" charset="0"/>
              </a:rPr>
              <a:t>Research/Project Link: </a:t>
            </a:r>
            <a:r>
              <a:rPr lang="en-US" dirty="0">
                <a:latin typeface="Apple Braille" pitchFamily="2" charset="0"/>
                <a:hlinkClick r:id="rId5"/>
              </a:rPr>
              <a:t>https://github.com/adilmuhammedkm/Silent-Burnout-AI</a:t>
            </a:r>
            <a:endParaRPr lang="en-IN" dirty="0">
              <a:latin typeface="Apple Braille" pitchFamily="2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1659EFB-C276-9685-8BB3-1C304A3FF6B3}"/>
              </a:ext>
            </a:extLst>
          </p:cNvPr>
          <p:cNvSpPr txBox="1">
            <a:spLocks/>
          </p:cNvSpPr>
          <p:nvPr/>
        </p:nvSpPr>
        <p:spPr>
          <a:xfrm>
            <a:off x="8035636" y="4227162"/>
            <a:ext cx="4556760" cy="2019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b="1" dirty="0">
                <a:latin typeface="Apple Braille" pitchFamily="2" charset="0"/>
              </a:rPr>
              <a:t>Submitted To: </a:t>
            </a:r>
            <a:r>
              <a:rPr lang="en-IN" sz="1700" dirty="0">
                <a:latin typeface="Apple Braille" pitchFamily="2" charset="0"/>
              </a:rPr>
              <a:t>Mrudula </a:t>
            </a:r>
            <a:r>
              <a:rPr lang="en-IN" sz="1700" dirty="0" err="1">
                <a:latin typeface="Apple Braille" pitchFamily="2" charset="0"/>
              </a:rPr>
              <a:t>Selokar</a:t>
            </a:r>
            <a:endParaRPr lang="en-IN" sz="1700" dirty="0">
              <a:latin typeface="Apple Braille" pitchFamily="2" charset="0"/>
            </a:endParaRPr>
          </a:p>
          <a:p>
            <a:pPr algn="l"/>
            <a:r>
              <a:rPr lang="en-US" sz="1700" b="1" dirty="0">
                <a:latin typeface="Apple Braille" pitchFamily="2" charset="0"/>
              </a:rPr>
              <a:t>Dept: </a:t>
            </a:r>
            <a:r>
              <a:rPr lang="en-US" sz="1700" dirty="0">
                <a:latin typeface="Apple Braille" pitchFamily="2" charset="0"/>
              </a:rPr>
              <a:t>Computer Science and Engineering</a:t>
            </a:r>
            <a:endParaRPr lang="en-IN" sz="1700" dirty="0">
              <a:latin typeface="Apple Braille" pitchFamily="2" charset="0"/>
            </a:endParaRPr>
          </a:p>
          <a:p>
            <a:pPr algn="l"/>
            <a:r>
              <a:rPr lang="en-US" sz="1700" b="1" dirty="0">
                <a:latin typeface="Apple Braille" pitchFamily="2" charset="0"/>
              </a:rPr>
              <a:t>University:  </a:t>
            </a:r>
            <a:r>
              <a:rPr lang="en-US" sz="1700" dirty="0">
                <a:latin typeface="Apple Braille" pitchFamily="2" charset="0"/>
              </a:rPr>
              <a:t>Lovely  Professional University Jalandhar Punjab India </a:t>
            </a:r>
            <a:endParaRPr lang="en-IN" sz="1700" dirty="0">
              <a:latin typeface="Apple Braille" pitchFamily="2" charset="0"/>
            </a:endParaRPr>
          </a:p>
          <a:p>
            <a:endParaRPr lang="en-US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2C6722F-19A2-AA11-94EF-15D9F8334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278" y="1559042"/>
            <a:ext cx="2618237" cy="238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79B8CAE-41A1-A49E-4E48-ADDEF9E9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CC10BE2-3C26-5745-BCC0-8E079BF8AF08}" type="slidenum">
              <a:rPr lang="en-US" smtClean="0"/>
              <a:t>1</a:t>
            </a:fld>
            <a:endParaRPr lang="en-US"/>
          </a:p>
        </p:txBody>
      </p:sp>
      <p:pic>
        <p:nvPicPr>
          <p:cNvPr id="1028" name="Picture 4" descr="Upgrad | Radeontech">
            <a:extLst>
              <a:ext uri="{FF2B5EF4-FFF2-40B4-BE49-F238E27FC236}">
                <a16:creationId xmlns:a16="http://schemas.microsoft.com/office/drawing/2014/main" id="{5BAB64BA-9EF4-2ED9-A323-9D2D42066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03" y="804284"/>
            <a:ext cx="1781012" cy="150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90B9-DD9E-B8BB-DA6B-6B4FDED1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Mentor's Thesis &amp; PPT Approval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09F5AA-DB40-07BF-445F-2D96D705B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5" t="27146" r="16500" b="23706"/>
          <a:stretch>
            <a:fillRect/>
          </a:stretch>
        </p:blipFill>
        <p:spPr bwMode="auto">
          <a:xfrm>
            <a:off x="1165115" y="2103435"/>
            <a:ext cx="9861769" cy="38401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82C0E-6229-5103-6880-E70C536F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081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D7F3CC-8AAC-A679-CD7A-8614753F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1" y="661108"/>
            <a:ext cx="10515600" cy="78234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pple Braille" pitchFamily="2" charset="0"/>
              </a:rPr>
              <a:t>Table Of Content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162E08-F234-3249-D895-79831B2B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292" y="1468215"/>
            <a:ext cx="11599416" cy="392157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800" b="1" dirty="0"/>
              <a:t>1. Introduction &amp; Project Foundation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2. Requirement Analysis &amp; System Design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3. Data Engineering &amp; Pre-processing</a:t>
            </a:r>
            <a:endParaRPr lang="en-US" sz="1800" dirty="0"/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4. Advanced Methodology &amp; Implementation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5. Comprehensive Results &amp; Validation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6. System Integration &amp; Deployment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7. Research Output &amp; Intellectual Property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8. Discussion, Conclusion &amp; Future Scope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9. References &amp; Appendices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A1324F-DB87-5C48-88DE-7CCA4148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865397"/>
            <a:ext cx="2743200" cy="365125"/>
          </a:xfrm>
        </p:spPr>
        <p:txBody>
          <a:bodyPr/>
          <a:lstStyle/>
          <a:p>
            <a:fld id="{1CC10BE2-3C26-5745-BCC0-8E079BF8AF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3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59642-5CA8-3DEB-D291-EF0AAEB5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65C1-C252-CAD9-9376-309314EEE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Introduction &amp; Project Foundation</a:t>
            </a: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DC488C-73CE-B434-4DBA-A79ADFCB4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+mj-lt"/>
              </a:rPr>
              <a:t>Project Objectives: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Detect early signs of student disengagement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Analyze LMS behavioral engagement patterns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Build predictive models using ML algorithms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Enable early intervention using data-driven insights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27AD1C-2E4D-DA60-10C7-99523A4E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613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23F6A-72A3-E13B-9076-B42A8772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BECA-9EA5-225C-BF56-DD6C6DF2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Introduction &amp; Project Foundation</a:t>
            </a: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79FD5A-4752-EB5D-B3B5-3573A093ED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Problem Statement &amp; Motivation: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Student disengagement is detected </a:t>
            </a:r>
            <a:r>
              <a:rPr lang="en-US" sz="2200" b="1" dirty="0"/>
              <a:t>only after performance decline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Systems rely mainly on </a:t>
            </a:r>
            <a:r>
              <a:rPr lang="en-US" sz="2200" b="1" dirty="0"/>
              <a:t>grades and attendance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b="1" dirty="0"/>
              <a:t>Behavioral LMS data is underutilized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Need for </a:t>
            </a:r>
            <a:r>
              <a:rPr lang="en-US" sz="2200" b="1" dirty="0"/>
              <a:t>early warning to enable timely intervention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4DBBE6-5ECC-167F-A61E-4DE13345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799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78DB-438F-329C-0489-6750A4E5D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4017-BEC7-5168-8E26-7AA0497D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Introduction &amp; Project Foundation</a:t>
            </a: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E5FD5D-2F37-E835-814B-4A9EE7608A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Literature Synthesis &amp; Research Gap:</a:t>
            </a:r>
            <a:endParaRPr lang="en-US" sz="2200" b="1" dirty="0"/>
          </a:p>
          <a:p>
            <a:pPr>
              <a:lnSpc>
                <a:spcPct val="100000"/>
              </a:lnSpc>
            </a:pPr>
            <a:r>
              <a:rPr lang="en-US" sz="2200" dirty="0"/>
              <a:t>Existing studies focus mainly on </a:t>
            </a:r>
            <a:r>
              <a:rPr lang="en-US" sz="2200" b="1" dirty="0"/>
              <a:t>academic performance prediction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Some works use LMS data but rely on </a:t>
            </a:r>
            <a:r>
              <a:rPr lang="en-US" sz="2200" b="1" dirty="0"/>
              <a:t>basic interaction features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Limited integration of </a:t>
            </a:r>
            <a:r>
              <a:rPr lang="en-US" sz="2200" b="1" dirty="0"/>
              <a:t>behavioral + academic data in a single framework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This project proposes a </a:t>
            </a:r>
            <a:r>
              <a:rPr lang="en-US" sz="2200" b="1" dirty="0"/>
              <a:t>multimodal, behavior-driven approach for early detection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BBA966-AEEA-E032-2D5B-1F0F430A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595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91B4-2B76-32D5-67AE-3E8204B6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250EFF-FFA6-A059-4A43-6C7E2F6E06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11013489" cy="441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916">
                  <a:extLst>
                    <a:ext uri="{9D8B030D-6E8A-4147-A177-3AD203B41FA5}">
                      <a16:colId xmlns:a16="http://schemas.microsoft.com/office/drawing/2014/main" val="1539739518"/>
                    </a:ext>
                  </a:extLst>
                </a:gridCol>
                <a:gridCol w="3623443">
                  <a:extLst>
                    <a:ext uri="{9D8B030D-6E8A-4147-A177-3AD203B41FA5}">
                      <a16:colId xmlns:a16="http://schemas.microsoft.com/office/drawing/2014/main" val="1800967558"/>
                    </a:ext>
                  </a:extLst>
                </a:gridCol>
                <a:gridCol w="3390551">
                  <a:extLst>
                    <a:ext uri="{9D8B030D-6E8A-4147-A177-3AD203B41FA5}">
                      <a16:colId xmlns:a16="http://schemas.microsoft.com/office/drawing/2014/main" val="1270894706"/>
                    </a:ext>
                  </a:extLst>
                </a:gridCol>
                <a:gridCol w="2598579">
                  <a:extLst>
                    <a:ext uri="{9D8B030D-6E8A-4147-A177-3AD203B41FA5}">
                      <a16:colId xmlns:a16="http://schemas.microsoft.com/office/drawing/2014/main" val="1080103288"/>
                    </a:ext>
                  </a:extLst>
                </a:gridCol>
              </a:tblGrid>
              <a:tr h="558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Reference of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Research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Proposed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39132"/>
                  </a:ext>
                </a:extLst>
              </a:tr>
              <a:tr h="75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Kotsiantis et al., Predicting Students at Risk Using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Mainly academic features, small dataset, limited behavioral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Large-scale LMS behavioral modeling + ensemble 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207518"/>
                  </a:ext>
                </a:extLst>
              </a:tr>
              <a:tr h="75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Romero &amp; Ventura, Educational Data Mining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Focused on performance analytics, minimal temporal engagement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Engagement trend, diversity &amp; stability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1999458"/>
                  </a:ext>
                </a:extLst>
              </a:tr>
              <a:tr h="79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Marbouti</a:t>
                      </a:r>
                      <a:r>
                        <a:rPr lang="en-US" dirty="0"/>
                        <a:t> et al., Early Prediction of At-Risk Students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Focused mainly on academic performance indicators, limited behavioral interaction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Focused mainly on academic performance indicators, limited behavioral interaction modeling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597241"/>
                  </a:ext>
                </a:extLst>
              </a:tr>
              <a:tr h="79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Behavioral + academic multimodal modeling with ensemble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Analyzed online behavior but lacked advanced feature engineering and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Analyzed online behavior but lacked advanced feature engineering and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694564"/>
                  </a:ext>
                </a:extLst>
              </a:tr>
              <a:tr h="75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OULAD Dataset Study (</a:t>
                      </a:r>
                      <a:r>
                        <a:rPr lang="en-US" dirty="0" err="1"/>
                        <a:t>Kuzilek</a:t>
                      </a:r>
                      <a:r>
                        <a:rPr lang="en-US" dirty="0"/>
                        <a:t> et al.)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Provided dataset but limited advanced feature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Advanced behavioral aggregation + hyperparameter 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70084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FF53A-7BBB-E69F-27F8-50FE8E4A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152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8A0C-BC71-7848-44EF-95634C9C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FD09-B6DF-3673-5E73-ACD7DF888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Requirement Analysis &amp; System Design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13B277-E55C-7566-6EAB-0D231711C0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242176" cy="407315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Functional Requirements</a:t>
            </a:r>
          </a:p>
          <a:p>
            <a:r>
              <a:rPr lang="en-US" sz="2200" dirty="0"/>
              <a:t>Accept student behavioral and academic input data </a:t>
            </a:r>
          </a:p>
          <a:p>
            <a:r>
              <a:rPr lang="en-US" sz="2200" dirty="0"/>
              <a:t>Process data using trained machine learning model </a:t>
            </a:r>
          </a:p>
          <a:p>
            <a:r>
              <a:rPr lang="en-US" sz="2200" dirty="0"/>
              <a:t>Predict disengagement risk level (Low / Medium / High) </a:t>
            </a:r>
          </a:p>
          <a:p>
            <a:r>
              <a:rPr lang="en-US" sz="2200" dirty="0"/>
              <a:t>Display prediction results with probability and insights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400" b="1" dirty="0"/>
              <a:t>Non-Functional Requirements</a:t>
            </a:r>
            <a:endParaRPr lang="en-US" sz="2400" dirty="0"/>
          </a:p>
          <a:p>
            <a:r>
              <a:rPr lang="en-US" sz="2200" dirty="0"/>
              <a:t>Provide </a:t>
            </a:r>
            <a:r>
              <a:rPr lang="en-US" sz="2200" b="1" dirty="0"/>
              <a:t>real-time prediction with low latency</a:t>
            </a:r>
            <a:r>
              <a:rPr lang="en-US" sz="2200" dirty="0"/>
              <a:t> </a:t>
            </a:r>
          </a:p>
          <a:p>
            <a:r>
              <a:rPr lang="en-US" sz="2200" dirty="0"/>
              <a:t>Ensure </a:t>
            </a:r>
            <a:r>
              <a:rPr lang="en-US" sz="2200" b="1" dirty="0"/>
              <a:t>scalability for large student datasets</a:t>
            </a:r>
            <a:r>
              <a:rPr lang="en-US" sz="2200" dirty="0"/>
              <a:t> </a:t>
            </a:r>
          </a:p>
          <a:p>
            <a:r>
              <a:rPr lang="en-US" sz="2200" dirty="0"/>
              <a:t>Maintain </a:t>
            </a:r>
            <a:r>
              <a:rPr lang="en-US" sz="2200" b="1" dirty="0"/>
              <a:t>usability with a simple and interactive interface</a:t>
            </a:r>
            <a:r>
              <a:rPr lang="en-US" sz="2200" dirty="0"/>
              <a:t> </a:t>
            </a:r>
          </a:p>
          <a:p>
            <a:r>
              <a:rPr lang="en-US" sz="2200" dirty="0"/>
              <a:t>Ensure </a:t>
            </a:r>
            <a:r>
              <a:rPr lang="en-US" sz="2200" b="1" dirty="0"/>
              <a:t>accuracy and reliability of predictions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7A1E32-CC09-4B03-900E-98E8649A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094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A4AFA-12C7-0A3A-436C-834EEE56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4B265-0929-4791-4415-F27C77C55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Requirement Analysis &amp; System Design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4F23BB-7761-7E12-A375-D936D6336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Proposed System Architecture: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Input: LMS behavioral data and academic performance data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Processing: Data preprocessing and feature engineering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Model: Machine learning model (Gradient Boosting) for prediction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Output: Risk classification with visualization in dashboard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448068-9E33-AF0C-63EC-6B5814B5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939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23746-4A60-A0C9-15A8-21F8F1321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D9D7-7155-1C10-D285-D5EB56BA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Requirement Analysis &amp; System Design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00D394-1DAB-ADDF-FD3C-A290B967A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Data Flow &amp; Workflow: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Data collection from LMS datasets (student activity and assessments)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Data preprocessing and feature extraction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Model processing for risk prediction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Output generation and visualization in dashboard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FE433BF-0160-94A8-0932-FE630930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386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3444-4540-E1B7-8DBB-1977A08B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A736-E7EB-B10E-1156-2C079A0C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Data Engineering &amp; Pre-processing</a:t>
            </a:r>
            <a:endParaRPr lang="en-US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14B9-112D-1C1E-FAE6-940DC885DF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Data Sourcing &amp; Description: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Dataset: Open University Learning Analytics Dataset (OULAD)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Contains student demographic, assessment, and LMS interaction data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Includes features like clicks, activity logs, scores, and submissions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Large-scale dataset with thousands of students and extensive interaction records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A055D6-298E-E0EA-DECC-12AB82E5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519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3B66-5312-BE82-7CBE-3DE9F4AD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66FF-AECD-CF65-314F-267D6A087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Data Engineering &amp; Pre-processing</a:t>
            </a:r>
            <a:endParaRPr lang="en-US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5223EB-2D79-9EEC-0A80-70CD10664A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Exploratory Data Analysis (EDA):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Correlation analysis to identify relationships between engagement and performance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Detection and handling of outliers in activity and score features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Distribution analysis of key variables (clicks, scores, submissions)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Visualizations used to understand patterns and data trends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9571ECA-5094-801C-72B4-EDD30221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372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96A8-1258-300E-8E4A-3B37F7FA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27CE-0997-2849-9F5C-F1AD7790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Data Engineering &amp; Pre-processing</a:t>
            </a:r>
            <a:endParaRPr lang="en-US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5D0FDD-FBE5-B8DE-AE75-7608905EE5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Data Pipeline: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Data cleaning: handling missing values and removing inconsistencies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Feature engineering: creation of behavioral metrics (clicks, engagement trends)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Feature processing: selection and scaling of relevant variables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Data splitting into training and testing sets for model evaluation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1CA07E-C839-AB6D-F0CE-3445F807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202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3D4E-2694-8034-7C25-577A459C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0A5E-F7EB-BA90-902B-628D7772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Advanced Methodology &amp;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C0CC43-E8CB-57F0-19DE-198030FCD4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Final Algorithm Selection: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Multiple models evaluated: Logistic Regression, Random Forest, Gradient Boosting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Gradient Boosting selected for </a:t>
            </a:r>
            <a:r>
              <a:rPr lang="en-US" sz="2200" b="1" dirty="0"/>
              <a:t>better accuracy and generalization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Handles </a:t>
            </a:r>
            <a:r>
              <a:rPr lang="en-US" sz="2200" b="1" dirty="0"/>
              <a:t>non-linear relationships and feature interactions effectively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Provides </a:t>
            </a:r>
            <a:r>
              <a:rPr lang="en-US" sz="2200" b="1" dirty="0"/>
              <a:t>stable and consistent performance on structured tabular data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2122BA-32F0-0138-6559-9E1ECA1E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225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65B9-6191-8B8F-8C91-6ED389F24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F89B-56E2-7D32-005C-6ED25A8A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Advanced Methodology &amp;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37A70C9-C859-A847-EE3B-CFEC15C92A0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825159"/>
                <a:ext cx="10242176" cy="4073151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b="1" dirty="0"/>
                  <a:t>Mathematical Modeling: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Gradient Boosting builds model sequentially:</a:t>
                </a:r>
                <a:br>
                  <a:rPr lang="en-US" sz="2200" dirty="0"/>
                </a:b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22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AE" sz="2200" dirty="0"/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Minimizes loss using stage-wise optimization (for classification):</a:t>
                </a:r>
                <a:br>
                  <a:rPr lang="en-US" sz="2200" dirty="0"/>
                </a:b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m:rPr>
                        <m:sty m:val="p"/>
                      </m:rPr>
                      <a:rPr lang="en-US" sz="2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ar-AE" sz="2200" dirty="0"/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Each new model learns from </a:t>
                </a:r>
                <a:r>
                  <a:rPr lang="en-US" sz="2200" b="1" dirty="0"/>
                  <a:t>residual errors</a:t>
                </a:r>
                <a:r>
                  <a:rPr lang="en-US" sz="2200" dirty="0"/>
                  <a:t> of previous models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Final prediction is obtained by </a:t>
                </a:r>
                <a:r>
                  <a:rPr lang="en-US" sz="2200" b="1" dirty="0"/>
                  <a:t>combining weighted weak learners</a:t>
                </a:r>
                <a:endParaRPr lang="en-US" sz="22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37A70C9-C859-A847-EE3B-CFEC15C92A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159"/>
                <a:ext cx="10242176" cy="4073151"/>
              </a:xfrm>
              <a:blipFill>
                <a:blip r:embed="rId2"/>
                <a:stretch>
                  <a:fillRect l="-952" t="-1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173709-B170-0814-5AA7-16DD92F3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577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C447E-727A-28EC-C34E-460DBF4A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0B03-C82C-7525-9DB9-F63CA629F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Advanced Methodology &amp;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EDF7E4-BC3E-94C4-69F3-32E2F613A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Hyperparameter Optimization: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Applied </a:t>
            </a:r>
            <a:r>
              <a:rPr lang="en-US" sz="2200" b="1" dirty="0" err="1"/>
              <a:t>GridSearchCV</a:t>
            </a:r>
            <a:r>
              <a:rPr lang="en-US" sz="2200" dirty="0"/>
              <a:t> to tune model parameters systematically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Key parameters optimized: learning rate, number of estimators, max depth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Used cross-validation to ensure </a:t>
            </a:r>
            <a:r>
              <a:rPr lang="en-US" sz="2200" b="1" dirty="0"/>
              <a:t>robust and unbiased performance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Achieved improved accuracy and better generalization after tuning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4910AC-87C1-EDFD-D04B-3A2E5B74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380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B469F-53EA-9950-5915-1171A1FF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F656-FBF1-D092-11DD-742A70067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proposed system architecture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F57C8-6F1E-BFE3-9AFD-9802F8A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17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E7D055-0156-1CE1-8B0F-5446A49268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1" t="10816" r="1534" b="2252"/>
          <a:stretch>
            <a:fillRect/>
          </a:stretch>
        </p:blipFill>
        <p:spPr>
          <a:xfrm>
            <a:off x="2031765" y="1579282"/>
            <a:ext cx="8128469" cy="484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15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D0B58-B819-91BD-EA12-6EDC5A34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BA80-8C21-7EB2-F682-B4D36D715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Comprehensive Results &amp; Validation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D002AA-40FB-A869-C274-1341858B21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Performance Evaluation: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Evaluated using metrics: </a:t>
            </a:r>
            <a:r>
              <a:rPr lang="en-US" sz="2200" b="1" dirty="0"/>
              <a:t>Accuracy, F1-Score, and ROC-AUC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Achieved ~</a:t>
            </a:r>
            <a:r>
              <a:rPr lang="en-US" sz="2200" b="1" dirty="0"/>
              <a:t>80% accuracy</a:t>
            </a:r>
            <a:r>
              <a:rPr lang="en-US" sz="2200" dirty="0"/>
              <a:t> with consistent model performance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Confusion matrix used to analyze class-wise predictions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Graphical representations include </a:t>
            </a:r>
            <a:r>
              <a:rPr lang="en-US" sz="2200" b="1" dirty="0"/>
              <a:t>ROC curve and performance plots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E866C7-6253-7C3A-7FD8-E7124AAE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094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3C1F-ED59-D422-F616-B634A1B22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6652-D37A-7039-ECC3-9E654B72A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Comprehensive Results &amp; Validation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9EAADA-5AE6-BD99-B3D2-BDDD4A7BAE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Comparative Analysis: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Compared Gradient Boosting with Logistic Regression and Random Forest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Gradient Boosting achieved </a:t>
            </a:r>
            <a:r>
              <a:rPr lang="en-US" sz="2200" b="1" dirty="0"/>
              <a:t>higher accuracy and better class separation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Showed improved performance on </a:t>
            </a:r>
            <a:r>
              <a:rPr lang="en-US" sz="2200" b="1" dirty="0"/>
              <a:t>non-linear and complex feature patterns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Selected as final model due to </a:t>
            </a:r>
            <a:r>
              <a:rPr lang="en-US" sz="2200" b="1" dirty="0"/>
              <a:t>best overall predictive performance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E664CE-A88F-AEF0-E2BE-1511044C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16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D54-EE61-59CE-07B5-073ADBF1E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FED30-3D0D-8F87-AC7E-BA83E883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Comprehensive Results &amp; Validation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B02683-FA03-0567-633B-A5D3B84C30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Ablation Study: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Evaluated impact of </a:t>
            </a:r>
            <a:r>
              <a:rPr lang="en-US" sz="2200" b="1" dirty="0"/>
              <a:t>behavioral features vs academic features separately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Model performance decreased when </a:t>
            </a:r>
            <a:r>
              <a:rPr lang="en-US" sz="2200" b="1" dirty="0"/>
              <a:t>behavioral features were removed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Combining both feature types resulted in </a:t>
            </a:r>
            <a:r>
              <a:rPr lang="en-US" sz="2200" b="1" dirty="0"/>
              <a:t>highest accuracy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Shows importance of </a:t>
            </a:r>
            <a:r>
              <a:rPr lang="en-US" sz="2200" b="1" dirty="0"/>
              <a:t>multimodal feature integration for prediction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DE923-8FA0-CCA9-17D0-94270452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993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CD91B-E315-A2D9-F782-625EE7989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543A-D826-7577-8DC8-E9D874B05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System Integration &amp; Deployment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129A20-AF31-749A-ACBC-9DAB4151F9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Final UI/UX Implementation: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Developed an interactive </a:t>
            </a:r>
            <a:r>
              <a:rPr lang="en-US" sz="2200" b="1" dirty="0" err="1"/>
              <a:t>Streamlit</a:t>
            </a:r>
            <a:r>
              <a:rPr lang="en-US" sz="2200" b="1" dirty="0"/>
              <a:t>-based web application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Allows user input of </a:t>
            </a:r>
            <a:r>
              <a:rPr lang="en-US" sz="2200" b="1" dirty="0"/>
              <a:t>behavioral and academic features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Displays </a:t>
            </a:r>
            <a:r>
              <a:rPr lang="en-US" sz="2200" b="1" dirty="0"/>
              <a:t>risk prediction with probability scores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Includes </a:t>
            </a:r>
            <a:r>
              <a:rPr lang="en-US" sz="2200" b="1" dirty="0"/>
              <a:t>visualizations (risk graph and engagement profile)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95A429-E21E-9426-FA86-0459938B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649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C654-10BD-C825-132E-4120A5F3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B2A1-107C-3962-C112-AA5874E4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System Integration &amp; Deployment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E460B8-AEA0-ABF3-D8ED-B60BCF210D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Deployment Pipeline: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Model deployed locally using </a:t>
            </a:r>
            <a:r>
              <a:rPr lang="en-US" sz="2200" b="1" dirty="0"/>
              <a:t>saved .</a:t>
            </a:r>
            <a:r>
              <a:rPr lang="en-US" sz="2200" b="1" dirty="0" err="1"/>
              <a:t>pkl</a:t>
            </a:r>
            <a:r>
              <a:rPr lang="en-US" sz="2200" b="1" dirty="0"/>
              <a:t> files (</a:t>
            </a:r>
            <a:r>
              <a:rPr lang="en-US" sz="2200" b="1" dirty="0" err="1"/>
              <a:t>joblib</a:t>
            </a:r>
            <a:r>
              <a:rPr lang="en-US" sz="2200" b="1" dirty="0"/>
              <a:t>)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Integrated with </a:t>
            </a:r>
            <a:r>
              <a:rPr lang="en-US" sz="2200" dirty="0" err="1"/>
              <a:t>Streamlit</a:t>
            </a:r>
            <a:r>
              <a:rPr lang="en-US" sz="2200" dirty="0"/>
              <a:t> for </a:t>
            </a:r>
            <a:r>
              <a:rPr lang="en-US" sz="2200" b="1" dirty="0"/>
              <a:t>real-time prediction serving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Input → preprocessing (imputer + feature order) → model → output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Provides </a:t>
            </a:r>
            <a:r>
              <a:rPr lang="en-US" sz="2200" b="1" dirty="0"/>
              <a:t>low-latency predictions suitable for interactive use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CA567C-8AEC-3A2D-1BF1-DEE7119C4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11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7EB8B-0311-3F02-D825-0CD12B36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23</a:t>
            </a:fld>
            <a:endParaRPr lang="en-IN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003CD8E-2B4E-D18E-B4D3-42E5921A2F6A}"/>
              </a:ext>
            </a:extLst>
          </p:cNvPr>
          <p:cNvGraphicFramePr/>
          <p:nvPr/>
        </p:nvGraphicFramePr>
        <p:xfrm>
          <a:off x="1954308" y="901368"/>
          <a:ext cx="8283384" cy="5482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F66A2E0B-11CF-6EBD-EE74-FAC6A589D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2800"/>
            <a:ext cx="10515600" cy="877888"/>
          </a:xfrm>
        </p:spPr>
        <p:txBody>
          <a:bodyPr/>
          <a:lstStyle/>
          <a:p>
            <a:r>
              <a:rPr lang="en-US" b="1" dirty="0"/>
              <a:t>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968384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3E008-5159-3CE2-4B58-43283C9B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D5103-AA90-2751-A3E5-168D4593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Research Output &amp; Intellectual Property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4094BA-003B-5196-A672-62A8D3DFBC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Research Paper / Publication: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Research manuscript prepared based on project methodology and results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Targeted for submission to </a:t>
            </a:r>
            <a:r>
              <a:rPr lang="en-US" sz="2200" b="1" dirty="0"/>
              <a:t>IEEE / Scopus-indexed conference (ICCCNS)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Focus on </a:t>
            </a:r>
            <a:r>
              <a:rPr lang="en-US" sz="2200" b="1" dirty="0"/>
              <a:t>AI-based early detection of academic disengagement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Paper includes methodology, evaluation, and system implementation details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0E9344-BDDB-E636-0D31-E7EAAC27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382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7832E-5FD6-AFDF-A5EA-BD5B1FB6B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7505-ED8D-77A5-C235-1369908D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Research Output &amp; Intellectual Property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F3F22B-D0F2-ADF0-FBDE-7F133474B2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IP &amp; Copyright: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Project includes a </a:t>
            </a:r>
            <a:r>
              <a:rPr lang="en-US" sz="2200" b="1" dirty="0"/>
              <a:t>custom ML pipeline and interactive dashboard design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Potential for </a:t>
            </a:r>
            <a:r>
              <a:rPr lang="en-US" sz="2200" b="1" dirty="0"/>
              <a:t>software copyright of implementation and UI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Core methodology can be considered for </a:t>
            </a:r>
            <a:r>
              <a:rPr lang="en-US" sz="2200" b="1" dirty="0"/>
              <a:t>future IP/patent exploration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Currently developed for </a:t>
            </a:r>
            <a:r>
              <a:rPr lang="en-US" sz="2200" b="1" dirty="0"/>
              <a:t>academic and research purposes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B170D00-31F2-5FC5-6801-6CDED397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060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0DD0-0889-0404-EA0C-773190382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9561"/>
            <a:ext cx="10515600" cy="877888"/>
          </a:xfrm>
        </p:spPr>
        <p:txBody>
          <a:bodyPr/>
          <a:lstStyle/>
          <a:p>
            <a:r>
              <a:rPr lang="en-US" sz="3600" b="1" dirty="0"/>
              <a:t>Screenshots and demo of the functional application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65DEA-9737-DEF8-09D6-56552876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0FB41-9D36-1544-BEBD-BD85C7B39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59" b="5232"/>
          <a:stretch>
            <a:fillRect/>
          </a:stretch>
        </p:blipFill>
        <p:spPr>
          <a:xfrm>
            <a:off x="1511931" y="1690688"/>
            <a:ext cx="9168137" cy="47850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3644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8D192-DB42-25D0-7055-3EECE390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DDC4-BC66-0C6B-6F38-6BA85509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9561"/>
            <a:ext cx="10515600" cy="877888"/>
          </a:xfrm>
        </p:spPr>
        <p:txBody>
          <a:bodyPr/>
          <a:lstStyle/>
          <a:p>
            <a:r>
              <a:rPr lang="en-US" sz="3600" b="1" dirty="0"/>
              <a:t>Screenshots and demo of the functional application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D5A72-2A5F-D889-4384-7D4F96CB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27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779EB6-9CA7-1411-4D1C-9A493ED33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319" y="1587449"/>
            <a:ext cx="7865362" cy="49158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7776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B72D-C5F9-B293-C83A-C42B9819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C3A4D-C113-36D7-B2A8-4259F6D7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Project Timeline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B1DE2D5-E73B-89B9-23E2-7E5BEB5F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28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000E49-68A6-5340-B4A9-DC6E7020EBA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65658"/>
          <a:ext cx="10515602" cy="3171826"/>
        </p:xfrm>
        <a:graphic>
          <a:graphicData uri="http://schemas.openxmlformats.org/drawingml/2006/table">
            <a:tbl>
              <a:tblPr/>
              <a:tblGrid>
                <a:gridCol w="5257801">
                  <a:extLst>
                    <a:ext uri="{9D8B030D-6E8A-4147-A177-3AD203B41FA5}">
                      <a16:colId xmlns:a16="http://schemas.microsoft.com/office/drawing/2014/main" val="4125999096"/>
                    </a:ext>
                  </a:extLst>
                </a:gridCol>
                <a:gridCol w="5257801">
                  <a:extLst>
                    <a:ext uri="{9D8B030D-6E8A-4147-A177-3AD203B41FA5}">
                      <a16:colId xmlns:a16="http://schemas.microsoft.com/office/drawing/2014/main" val="3065909060"/>
                    </a:ext>
                  </a:extLst>
                </a:gridCol>
              </a:tblGrid>
              <a:tr h="45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546845"/>
                  </a:ext>
                </a:extLst>
              </a:tr>
              <a:tr h="45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Week 1–2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Data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260686"/>
                  </a:ext>
                </a:extLst>
              </a:tr>
              <a:tr h="45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Week 3–4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Feature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772843"/>
                  </a:ext>
                </a:extLst>
              </a:tr>
              <a:tr h="45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Week 5–6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Model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808102"/>
                  </a:ext>
                </a:extLst>
              </a:tr>
              <a:tr h="45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Week 7–8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Model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957851"/>
                  </a:ext>
                </a:extLst>
              </a:tr>
              <a:tr h="45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Week 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Final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845456"/>
                  </a:ext>
                </a:extLst>
              </a:tr>
              <a:tr h="453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Week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Final Submission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790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322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3C369-4225-1074-822D-4C9B8D3C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F18A-60BC-A05A-6978-DBBA38AA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Discussion, Conclusion &amp; Future Scope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FE70D4-4C62-E249-CC14-DA3B719B7B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Technical Challenges &amp; Mitigations: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Handling </a:t>
            </a:r>
            <a:r>
              <a:rPr lang="en-US" sz="2200" b="1" dirty="0"/>
              <a:t>large and complex LMS datasets</a:t>
            </a:r>
            <a:r>
              <a:rPr lang="en-US" sz="2200" dirty="0"/>
              <a:t> → optimized preprocessing and feature selection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Dealing with </a:t>
            </a:r>
            <a:r>
              <a:rPr lang="en-US" sz="2200" b="1" dirty="0"/>
              <a:t>missing and inconsistent data</a:t>
            </a:r>
            <a:r>
              <a:rPr lang="en-US" sz="2200" dirty="0"/>
              <a:t> → applied imputation and cleaning techniques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Model selection and tuning challenges → used </a:t>
            </a:r>
            <a:r>
              <a:rPr lang="en-US" sz="2200" b="1" dirty="0" err="1"/>
              <a:t>GridSearchCV</a:t>
            </a:r>
            <a:r>
              <a:rPr lang="en-US" sz="2200" b="1" dirty="0"/>
              <a:t> for optimization</a:t>
            </a:r>
            <a:r>
              <a:rPr lang="en-US" sz="22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Integration of model with frontend → ensured </a:t>
            </a:r>
            <a:r>
              <a:rPr lang="en-US" sz="2200" b="1" dirty="0"/>
              <a:t>proper pipeline and file handling for deployment</a:t>
            </a:r>
            <a:endParaRPr lang="en-US" sz="2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8709DC-D8F1-EF15-A160-A7F173ED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639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6C078-87A6-4443-2562-22FA8734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92E8-6EB2-C030-AD94-E9DA0FBB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Discussion, Conclusion &amp; Future Scope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3DB1F8-A9E6-498E-303F-5DF76911A2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Limitations &amp; Constraints: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Relies on </a:t>
            </a:r>
            <a:r>
              <a:rPr lang="en-US" sz="2400" b="1" dirty="0"/>
              <a:t>historical dataset (no real-time data integration)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Limited to </a:t>
            </a:r>
            <a:r>
              <a:rPr lang="en-US" sz="2400" b="1" dirty="0"/>
              <a:t>LMS behavioral and academic features only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Model performance depends on </a:t>
            </a:r>
            <a:r>
              <a:rPr lang="en-US" sz="2400" b="1" dirty="0"/>
              <a:t>data quality and feature representation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Does not include </a:t>
            </a:r>
            <a:r>
              <a:rPr lang="en-US" sz="2400" b="1" dirty="0"/>
              <a:t>psychological or external influencing factors</a:t>
            </a:r>
            <a:endParaRPr 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30D715-AC6C-A8D0-5808-CC402937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776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22A13-8C8C-C8A9-B058-A9E0319B8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C9AF-AA36-A8BA-9BDF-7D902398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Discussion, Conclusion &amp; Future Scope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2BEB7F-AB9E-9248-0EB0-DBDFEBDABC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Conclusion &amp; Future Directions: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Demonstrates effective </a:t>
            </a:r>
            <a:r>
              <a:rPr lang="en-US" sz="2400" b="1" dirty="0"/>
              <a:t>early detection of academic disengagement using ML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Highlights importance of </a:t>
            </a:r>
            <a:r>
              <a:rPr lang="en-US" sz="2400" b="1" dirty="0"/>
              <a:t>behavioral data alongside academic performance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Can be extended with </a:t>
            </a:r>
            <a:r>
              <a:rPr lang="en-US" sz="2400" b="1" dirty="0"/>
              <a:t>real-time data and deeper multimodal features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Future scope includes </a:t>
            </a:r>
            <a:r>
              <a:rPr lang="en-US" sz="2400" b="1" dirty="0"/>
              <a:t>scalable deployment for institutional use</a:t>
            </a:r>
            <a:endParaRPr 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A7E13C-98EC-158E-1450-21B9D46F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429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538E6-962F-6E53-B843-754DC6E8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C7EE-A1EC-2CC2-09E5-6C440D20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References &amp; Appendices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1AA8DD-1757-7494-986F-44B54BF1C1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Bibliography: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References formatted using </a:t>
            </a:r>
            <a:r>
              <a:rPr lang="en-US" sz="2400" b="1" dirty="0"/>
              <a:t>IEEE citation style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Includes journals, conferences, and standard ML textbooks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Covers domains: </a:t>
            </a:r>
            <a:r>
              <a:rPr lang="en-US" sz="2400" b="1" dirty="0"/>
              <a:t>educational data mining, learning analytics, machine learning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All sources properly cited to ensure </a:t>
            </a:r>
            <a:r>
              <a:rPr lang="en-US" sz="2400" b="1" dirty="0"/>
              <a:t>academic integrity and low plagiarism</a:t>
            </a:r>
            <a:endParaRPr 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A98AF8-F974-0188-5730-AE2C58D1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400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993D6-0739-A898-C038-C79B6AB5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AC40F-7CF2-69CF-10C9-A10097E1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/>
              <a:t>References &amp; Appendices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5F8157-5CD0-168E-F6BC-CCB17F4752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159"/>
            <a:ext cx="10242176" cy="407315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Plagiarism / Similarity Report: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Report generated using </a:t>
            </a:r>
            <a:r>
              <a:rPr lang="en-US" sz="2400" b="1" dirty="0"/>
              <a:t>Turnitin/Plagiarism Checker tools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Overall similarity maintained within </a:t>
            </a:r>
            <a:r>
              <a:rPr lang="en-US" sz="2400" b="1" dirty="0"/>
              <a:t>acceptable academic limits (&lt;10%)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Proper citation and paraphrasing used to ensure </a:t>
            </a:r>
            <a:r>
              <a:rPr lang="en-US" sz="2400" b="1" dirty="0"/>
              <a:t>original content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Confirms </a:t>
            </a:r>
            <a:r>
              <a:rPr lang="en-US" sz="2400" b="1" dirty="0"/>
              <a:t>authenticity and integrity of the research work</a:t>
            </a:r>
            <a:endParaRPr 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2AF48A-DC31-4869-CF57-A3CD6A75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33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8C57B-19E2-E8A6-CD86-A1A94B682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123"/>
          <a:stretch>
            <a:fillRect/>
          </a:stretch>
        </p:blipFill>
        <p:spPr>
          <a:xfrm>
            <a:off x="1111624" y="4457489"/>
            <a:ext cx="4375399" cy="1898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206AED-21A8-8A8E-A0EF-9AC47293A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334"/>
          <a:stretch>
            <a:fillRect/>
          </a:stretch>
        </p:blipFill>
        <p:spPr>
          <a:xfrm>
            <a:off x="5760447" y="4373129"/>
            <a:ext cx="4101975" cy="2067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0882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3434B-9337-8E22-B5B3-BE5C9102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252E2-7447-0514-3B93-E56BEC9E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A9CDA-AB7F-4EAE-90E7-B203AFFF4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407"/>
            <a:ext cx="10515600" cy="4351338"/>
          </a:xfrm>
        </p:spPr>
        <p:txBody>
          <a:bodyPr/>
          <a:lstStyle/>
          <a:p>
            <a:pPr marL="342900" indent="-342900">
              <a:buAutoNum type="alphaUcPeriod"/>
            </a:pPr>
            <a:r>
              <a:rPr lang="en-US" sz="1800" b="1" dirty="0"/>
              <a:t>References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[1] S. </a:t>
            </a:r>
            <a:r>
              <a:rPr lang="en-US" sz="1600" dirty="0" err="1"/>
              <a:t>Kotsiantis</a:t>
            </a:r>
            <a:r>
              <a:rPr lang="en-US" sz="1600" dirty="0"/>
              <a:t>, C. </a:t>
            </a:r>
            <a:r>
              <a:rPr lang="en-US" sz="1600" dirty="0" err="1"/>
              <a:t>Pierrakeas</a:t>
            </a:r>
            <a:r>
              <a:rPr lang="en-US" sz="1600" dirty="0"/>
              <a:t>, and P. </a:t>
            </a:r>
            <a:r>
              <a:rPr lang="en-US" sz="1600" dirty="0" err="1"/>
              <a:t>Pintelas</a:t>
            </a:r>
            <a:r>
              <a:rPr lang="en-US" sz="1600" dirty="0"/>
              <a:t>, 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    “Predicting students at risk using machine learning techniques,” 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    Applied Artificial Intelligence, vol. 24, no. 5, pp. 411–426, 2010.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[2] C. Romero and S. Ventura, 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    “Educational Data Mining: A Review of the State of the Art,” 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    IEEE Transactions on Systems, Man, and Cybernetics, 2010.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[3] J. Kuzilek, M. </a:t>
            </a:r>
            <a:r>
              <a:rPr lang="en-US" sz="1600" dirty="0" err="1"/>
              <a:t>Hlosta</a:t>
            </a:r>
            <a:r>
              <a:rPr lang="en-US" sz="1600" dirty="0"/>
              <a:t>, and Z. </a:t>
            </a:r>
            <a:r>
              <a:rPr lang="en-US" sz="1600" dirty="0" err="1"/>
              <a:t>Zdrahal</a:t>
            </a:r>
            <a:r>
              <a:rPr lang="en-US" sz="1600" dirty="0"/>
              <a:t>, 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    “Open University Learning Analytics Dataset,” 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    Scientific Data, vol. 4, 2017.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[4] M. </a:t>
            </a:r>
            <a:r>
              <a:rPr lang="en-US" sz="1600" dirty="0" err="1"/>
              <a:t>Hlosta</a:t>
            </a:r>
            <a:r>
              <a:rPr lang="en-US" sz="1600" dirty="0"/>
              <a:t>, J. Kuzilek, and Z. </a:t>
            </a:r>
            <a:r>
              <a:rPr lang="en-US" sz="1600" dirty="0" err="1"/>
              <a:t>Zdrahal</a:t>
            </a:r>
            <a:r>
              <a:rPr lang="en-US" sz="1600" dirty="0"/>
              <a:t>, 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    “Modeling student online behavior in a virtual learning environment,” 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    Journal of Learning Analytics, 2017.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[5] F. </a:t>
            </a:r>
            <a:r>
              <a:rPr lang="en-US" sz="1600" dirty="0" err="1"/>
              <a:t>Marbouti</a:t>
            </a:r>
            <a:r>
              <a:rPr lang="en-US" sz="1600" dirty="0"/>
              <a:t>, H. A. </a:t>
            </a:r>
            <a:r>
              <a:rPr lang="en-US" sz="1600" dirty="0" err="1"/>
              <a:t>Diefes</a:t>
            </a:r>
            <a:r>
              <a:rPr lang="en-US" sz="1600" dirty="0"/>
              <a:t>-Dux, and K. Madhavan, 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    “Models for early prediction of at-risk students in higher education,” </a:t>
            </a:r>
          </a:p>
          <a:p>
            <a:pPr marL="342900" lvl="1" indent="0">
              <a:lnSpc>
                <a:spcPct val="100000"/>
              </a:lnSpc>
              <a:buNone/>
            </a:pPr>
            <a:r>
              <a:rPr lang="en-US" sz="1600" dirty="0"/>
              <a:t>    Computers &amp; Education, 2016.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5B691-F936-5C3D-2A9E-A6E2F9BD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084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F3C6-3261-4FD9-4A23-A6A64B91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FDCC-AAE8-0ADB-71B7-208A0D62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14FD3-5C04-A702-E8BE-FC4B9EBD1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B. Books</a:t>
            </a:r>
          </a:p>
          <a:p>
            <a:pPr marL="342900" lvl="1" indent="0">
              <a:buNone/>
            </a:pPr>
            <a:r>
              <a:rPr lang="en-US" sz="1600" dirty="0"/>
              <a:t>[6] C. M. Bishop, </a:t>
            </a:r>
            <a:r>
              <a:rPr lang="en-US" sz="1600" i="1" dirty="0"/>
              <a:t>Pattern Recognition and Machine Learning</a:t>
            </a:r>
            <a:r>
              <a:rPr lang="en-US" sz="1600" dirty="0"/>
              <a:t>. Berlin, Germany: Springer, 2006.</a:t>
            </a:r>
          </a:p>
          <a:p>
            <a:pPr marL="342900" lvl="1" indent="0">
              <a:buNone/>
            </a:pPr>
            <a:r>
              <a:rPr lang="en-US" sz="1600" dirty="0"/>
              <a:t>[7] T. Hastie, R. </a:t>
            </a:r>
            <a:r>
              <a:rPr lang="en-US" sz="1600" dirty="0" err="1"/>
              <a:t>Tibshirani</a:t>
            </a:r>
            <a:r>
              <a:rPr lang="en-US" sz="1600" dirty="0"/>
              <a:t>, and J. Friedman, </a:t>
            </a:r>
            <a:r>
              <a:rPr lang="en-US" sz="1600" i="1" dirty="0"/>
              <a:t>The Elements of Statistical Learning</a:t>
            </a:r>
            <a:r>
              <a:rPr lang="en-US" sz="1600" dirty="0"/>
              <a:t>. New York, USA: Springer, 2009.</a:t>
            </a:r>
          </a:p>
          <a:p>
            <a:pPr marL="342900" lvl="1" indent="0">
              <a:buNone/>
            </a:pPr>
            <a:r>
              <a:rPr lang="en-US" sz="1600" dirty="0"/>
              <a:t>[8] I. Goodfellow, Y. Bengio, and A. Courville, </a:t>
            </a:r>
            <a:r>
              <a:rPr lang="en-US" sz="1600" i="1" dirty="0"/>
              <a:t>Deep Learning</a:t>
            </a:r>
            <a:r>
              <a:rPr lang="en-US" sz="1600" dirty="0"/>
              <a:t>. Cambridge, MA, USA: MIT Press, 2016.</a:t>
            </a:r>
          </a:p>
          <a:p>
            <a:pPr marL="342900" lvl="1" indent="0">
              <a:buNone/>
            </a:pPr>
            <a:r>
              <a:rPr lang="en-US" sz="1600" dirty="0"/>
              <a:t>[9] C. C. Aggarwal, </a:t>
            </a:r>
            <a:r>
              <a:rPr lang="en-US" sz="1600" i="1" dirty="0"/>
              <a:t>Data Mining: The Textbook</a:t>
            </a:r>
            <a:r>
              <a:rPr lang="en-US" sz="1600" dirty="0"/>
              <a:t>. Springer, 2015.</a:t>
            </a:r>
          </a:p>
          <a:p>
            <a:pPr marL="342900" lvl="1" indent="0">
              <a:buNone/>
            </a:pPr>
            <a:r>
              <a:rPr lang="en-US" sz="1600" dirty="0"/>
              <a:t>[10] J. Han, M. Kamber, and J. Pei, </a:t>
            </a:r>
            <a:r>
              <a:rPr lang="en-US" sz="1600" i="1" dirty="0"/>
              <a:t>Data Mining: Concepts and Techniques</a:t>
            </a:r>
            <a:r>
              <a:rPr lang="en-US" sz="1600" dirty="0"/>
              <a:t>. Morgan Kaufmann, 2011.</a:t>
            </a:r>
          </a:p>
          <a:p>
            <a:pPr marL="342900" lvl="1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C. Websites / Online Documentation</a:t>
            </a:r>
          </a:p>
          <a:p>
            <a:pPr marL="342900" lvl="1" indent="0">
              <a:buNone/>
            </a:pPr>
            <a:r>
              <a:rPr lang="en-US" sz="1600" dirty="0"/>
              <a:t>[11] Scikit-Learn Developers, "Supervised Learning - Comparison of Algorithms," 2024. [Online]. Available: </a:t>
            </a:r>
            <a:r>
              <a:rPr lang="en-US" sz="1600" dirty="0">
                <a:hlinkClick r:id="rId2"/>
              </a:rPr>
              <a:t>https://scikit-learn.org/stable/supervised_learning.html</a:t>
            </a:r>
            <a:r>
              <a:rPr lang="en-US" sz="1600" dirty="0"/>
              <a:t>. [Accessed: Jan. 15, 2026].</a:t>
            </a:r>
          </a:p>
          <a:p>
            <a:pPr marL="342900" lvl="1" indent="0">
              <a:buNone/>
            </a:pPr>
            <a:r>
              <a:rPr lang="en-US" sz="1600" dirty="0"/>
              <a:t>[12] </a:t>
            </a:r>
            <a:r>
              <a:rPr lang="en-US" sz="1600" dirty="0" err="1"/>
              <a:t>Streamlit</a:t>
            </a:r>
            <a:r>
              <a:rPr lang="en-US" sz="1600" dirty="0"/>
              <a:t> Inc., "</a:t>
            </a:r>
            <a:r>
              <a:rPr lang="en-US" sz="1600" dirty="0" err="1"/>
              <a:t>Streamlit</a:t>
            </a:r>
            <a:r>
              <a:rPr lang="en-US" sz="1600" dirty="0"/>
              <a:t> Documentation," 2024. [Online]. Available: </a:t>
            </a:r>
            <a:r>
              <a:rPr lang="en-US" sz="1600" dirty="0">
                <a:hlinkClick r:id="rId3"/>
              </a:rPr>
              <a:t>https://docs.streamlit.io</a:t>
            </a:r>
            <a:r>
              <a:rPr lang="en-US" sz="1600" dirty="0"/>
              <a:t>. [Accessed: Jan. 20, 2026].</a:t>
            </a:r>
          </a:p>
          <a:p>
            <a:pPr marL="342900" lvl="1" indent="0">
              <a:buNone/>
            </a:pPr>
            <a:r>
              <a:rPr lang="en-US" sz="1600" dirty="0"/>
              <a:t>[13] Kaggle, "Student Performance Dataset," 2024. [Online]. Available: </a:t>
            </a:r>
            <a:r>
              <a:rPr lang="en-US" sz="1600" dirty="0">
                <a:hlinkClick r:id="rId4"/>
              </a:rPr>
              <a:t>https://www.kaggle.com</a:t>
            </a:r>
            <a:r>
              <a:rPr lang="en-US" sz="1600" dirty="0"/>
              <a:t>. [Accessed: Jan. 10, 2026].</a:t>
            </a:r>
          </a:p>
          <a:p>
            <a:pPr marL="342900" lvl="1" indent="0">
              <a:buNone/>
            </a:pPr>
            <a:r>
              <a:rPr lang="en-US" sz="1600" dirty="0"/>
              <a:t>[14] UCI Machine Learning Repository, "Student Data Set," 2024. [Online]. Available: </a:t>
            </a:r>
            <a:r>
              <a:rPr lang="en-US" sz="1600" dirty="0">
                <a:hlinkClick r:id="rId5"/>
              </a:rPr>
              <a:t>https://archive.ics.uci.edu</a:t>
            </a:r>
            <a:r>
              <a:rPr lang="en-US" sz="1600" dirty="0"/>
              <a:t>. [Accessed: Jan. 12, 2026].</a:t>
            </a:r>
          </a:p>
          <a:p>
            <a:pPr marL="342900" lvl="1" indent="0">
              <a:buNone/>
            </a:pPr>
            <a:r>
              <a:rPr lang="en-US" sz="1600" dirty="0"/>
              <a:t>[15] Python Software Foundation, "Python Documentation," 2024. [Online]. Available: </a:t>
            </a:r>
            <a:r>
              <a:rPr lang="en-US" sz="1600" dirty="0">
                <a:hlinkClick r:id="rId6"/>
              </a:rPr>
              <a:t>https://docs.python.org</a:t>
            </a:r>
            <a:r>
              <a:rPr lang="en-US" sz="1600" dirty="0"/>
              <a:t>. [Accessed: Jan. 18, 2026].</a:t>
            </a:r>
          </a:p>
          <a:p>
            <a:pPr marL="685800" lvl="2" indent="0">
              <a:buNone/>
            </a:pPr>
            <a:endParaRPr lang="en-US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F4659-FF8A-2835-3A25-AE3CACEF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06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E33B3-1407-3DB1-FAE1-07F87F78C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2D5B6-5931-E67B-AB3E-D44FD413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Link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44FE6-04D7-3C5F-31E7-C2D2F606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64" y="1690688"/>
            <a:ext cx="10515600" cy="4351338"/>
          </a:xfrm>
        </p:spPr>
        <p:txBody>
          <a:bodyPr/>
          <a:lstStyle/>
          <a:p>
            <a:pPr marL="685800" lvl="2" indent="0">
              <a:buNone/>
            </a:pPr>
            <a:r>
              <a:rPr lang="en-US" sz="2400" dirty="0">
                <a:hlinkClick r:id="rId2"/>
              </a:rPr>
              <a:t>https://silent-burnout-ai.streamlit.app/</a:t>
            </a:r>
            <a:endParaRPr lang="en-US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84835-61B1-E33B-E6D4-0CEDFF93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130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404_LEC0  -  Compatibility Mode" id="{3BDF6A17-ACBD-4545-BE13-AE1053292383}" vid="{F9445E81-6C4F-4E11-A32D-3F55FC671F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INT404_LEC0 TEMPLATE</Template>
  <TotalTime>11210</TotalTime>
  <Words>2073</Words>
  <Application>Microsoft Office PowerPoint</Application>
  <PresentationFormat>Widescreen</PresentationFormat>
  <Paragraphs>296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Apple Braille</vt:lpstr>
      <vt:lpstr>Arial</vt:lpstr>
      <vt:lpstr>Calibri</vt:lpstr>
      <vt:lpstr>Calibri Light</vt:lpstr>
      <vt:lpstr>Cambria Math</vt:lpstr>
      <vt:lpstr>Times New Roman</vt:lpstr>
      <vt:lpstr>Theme1</vt:lpstr>
      <vt:lpstr>PowerPoint Presentation</vt:lpstr>
      <vt:lpstr>Mentor's Thesis &amp; PPT Approval</vt:lpstr>
      <vt:lpstr>Table Of Content </vt:lpstr>
      <vt:lpstr>Introduction &amp; Project Foundation</vt:lpstr>
      <vt:lpstr>Introduction &amp; Project Foundation</vt:lpstr>
      <vt:lpstr>Introduction &amp; Project Foundation</vt:lpstr>
      <vt:lpstr>Literature review</vt:lpstr>
      <vt:lpstr>Requirement Analysis &amp; System Design</vt:lpstr>
      <vt:lpstr>Requirement Analysis &amp; System Design</vt:lpstr>
      <vt:lpstr>Requirement Analysis &amp; System Design</vt:lpstr>
      <vt:lpstr>Data Engineering &amp; Pre-processing</vt:lpstr>
      <vt:lpstr>Data Engineering &amp; Pre-processing</vt:lpstr>
      <vt:lpstr>Data Engineering &amp; Pre-processing</vt:lpstr>
      <vt:lpstr>Advanced Methodology &amp; Implementation</vt:lpstr>
      <vt:lpstr>Advanced Methodology &amp; Implementation</vt:lpstr>
      <vt:lpstr>Advanced Methodology &amp; Implementation</vt:lpstr>
      <vt:lpstr>Final proposed system architecture </vt:lpstr>
      <vt:lpstr>Comprehensive Results &amp; Validation</vt:lpstr>
      <vt:lpstr>Comprehensive Results &amp; Validation</vt:lpstr>
      <vt:lpstr>Comprehensive Results &amp; Validation</vt:lpstr>
      <vt:lpstr>System Integration &amp; Deployment</vt:lpstr>
      <vt:lpstr>System Integration &amp; Deployment</vt:lpstr>
      <vt:lpstr>Data Flow Diagram</vt:lpstr>
      <vt:lpstr>Research Output &amp; Intellectual Property </vt:lpstr>
      <vt:lpstr>Research Output &amp; Intellectual Property </vt:lpstr>
      <vt:lpstr>Screenshots and demo of the functional application</vt:lpstr>
      <vt:lpstr>Screenshots and demo of the functional application</vt:lpstr>
      <vt:lpstr>Project Timeline</vt:lpstr>
      <vt:lpstr>Discussion, Conclusion &amp; Future Scope</vt:lpstr>
      <vt:lpstr>Discussion, Conclusion &amp; Future Scope</vt:lpstr>
      <vt:lpstr>Discussion, Conclusion &amp; Future Scope</vt:lpstr>
      <vt:lpstr>References &amp; Appendices</vt:lpstr>
      <vt:lpstr>References &amp; Appendices</vt:lpstr>
      <vt:lpstr>References</vt:lpstr>
      <vt:lpstr>References</vt:lpstr>
      <vt:lpstr>Project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Revolution: Be the Change</dc:title>
  <dc:creator>Aashish</dc:creator>
  <cp:lastModifiedBy>Muhammed Althaf K</cp:lastModifiedBy>
  <cp:revision>103</cp:revision>
  <dcterms:created xsi:type="dcterms:W3CDTF">2025-01-04T06:25:56Z</dcterms:created>
  <dcterms:modified xsi:type="dcterms:W3CDTF">2026-05-11T20:39:43Z</dcterms:modified>
</cp:coreProperties>
</file>